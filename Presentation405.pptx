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ee79280e5342f1" /><Relationship Type="http://schemas.openxmlformats.org/officeDocument/2006/relationships/extended-properties" Target="/docProps/app.xml" Id="R2a5f2a7f17cd455a" /><Relationship Type="http://schemas.openxmlformats.org/officeDocument/2006/relationships/officeDocument" Target="/ppt/presentation.xml" Id="R54beb2d5bb5b4fee" /></Relationships>
</file>

<file path=ppt/presentation.xml><?xml version="1.0" encoding="utf-8"?>
<p:presentation xmlns:p="http://schemas.openxmlformats.org/presentationml/2006/main">
  <p:sldMasterIdLst>
    <p:sldMasterId xmlns:r="http://schemas.openxmlformats.org/officeDocument/2006/relationships" id="2147483648" r:id="R6d10f64eec184e7b"/>
  </p:sldMasterIdLst>
  <p:notesMasterIdLst>
    <p:notesMasterId xmlns:r="http://schemas.openxmlformats.org/officeDocument/2006/relationships" r:id="R2086dc48dd1047da"/>
  </p:notesMasterIdLst>
  <p:sldIdLst>
    <p:sldId xmlns:r="http://schemas.openxmlformats.org/officeDocument/2006/relationships" id="256" r:id="R30cbf8ba8a81469f"/>
    <p:sldId xmlns:r="http://schemas.openxmlformats.org/officeDocument/2006/relationships" id="257" r:id="R84a589af62a64c83"/>
    <p:sldId xmlns:r="http://schemas.openxmlformats.org/officeDocument/2006/relationships" id="258" r:id="R8bd7f2bd891c411c"/>
    <p:sldId xmlns:r="http://schemas.openxmlformats.org/officeDocument/2006/relationships" id="259" r:id="Rc8709b4ad77a425e"/>
    <p:sldId xmlns:r="http://schemas.openxmlformats.org/officeDocument/2006/relationships" id="260" r:id="R9648ac2e73a04253"/>
    <p:sldId xmlns:r="http://schemas.openxmlformats.org/officeDocument/2006/relationships" id="261" r:id="Ra2e5004de2954539"/>
    <p:sldId xmlns:r="http://schemas.openxmlformats.org/officeDocument/2006/relationships" id="262" r:id="Rc9408200ce8040c4"/>
    <p:sldId xmlns:r="http://schemas.openxmlformats.org/officeDocument/2006/relationships" id="263" r:id="R519a00ea205646c4"/>
    <p:sldId xmlns:r="http://schemas.openxmlformats.org/officeDocument/2006/relationships" id="264" r:id="Ra1f12149230144bf"/>
    <p:sldId xmlns:r="http://schemas.openxmlformats.org/officeDocument/2006/relationships" id="265" r:id="R231a5723d8464ce2"/>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6d10f64eec184e7b" /><Relationship Type="http://schemas.openxmlformats.org/officeDocument/2006/relationships/theme" Target="/ppt/theme/theme1.xml" Id="R116e090aec7c4fa2" /><Relationship Type="http://schemas.openxmlformats.org/officeDocument/2006/relationships/notesMaster" Target="/ppt/notesMasters/notesMaster1.xml" Id="R2086dc48dd1047da" /><Relationship Type="http://schemas.openxmlformats.org/officeDocument/2006/relationships/presProps" Target="/ppt/presProps.xml" Id="Rdcc4742cfaf74164" /><Relationship Type="http://schemas.openxmlformats.org/officeDocument/2006/relationships/viewProps" Target="/ppt/viewProps.xml" Id="R54ccbb5620954afd" /><Relationship Type="http://schemas.openxmlformats.org/officeDocument/2006/relationships/tableStyles" Target="/ppt/tableStyles.xml" Id="R1096713c834c43e7" /><Relationship Type="http://schemas.openxmlformats.org/officeDocument/2006/relationships/slide" Target="/ppt/slides/slide1.xml" Id="R30cbf8ba8a81469f" /><Relationship Type="http://schemas.openxmlformats.org/officeDocument/2006/relationships/slide" Target="/ppt/slides/slide2.xml" Id="R84a589af62a64c83" /><Relationship Type="http://schemas.openxmlformats.org/officeDocument/2006/relationships/slide" Target="/ppt/slides/slide3.xml" Id="R8bd7f2bd891c411c" /><Relationship Type="http://schemas.openxmlformats.org/officeDocument/2006/relationships/slide" Target="/ppt/slides/slide4.xml" Id="Rc8709b4ad77a425e" /><Relationship Type="http://schemas.openxmlformats.org/officeDocument/2006/relationships/slide" Target="/ppt/slides/slide5.xml" Id="R9648ac2e73a04253" /><Relationship Type="http://schemas.openxmlformats.org/officeDocument/2006/relationships/slide" Target="/ppt/slides/slide6.xml" Id="Ra2e5004de2954539" /><Relationship Type="http://schemas.openxmlformats.org/officeDocument/2006/relationships/slide" Target="/ppt/slides/slide7.xml" Id="Rc9408200ce8040c4" /><Relationship Type="http://schemas.openxmlformats.org/officeDocument/2006/relationships/slide" Target="/ppt/slides/slide8.xml" Id="R519a00ea205646c4" /><Relationship Type="http://schemas.openxmlformats.org/officeDocument/2006/relationships/slide" Target="/ppt/slides/slide9.xml" Id="Ra1f12149230144bf" /><Relationship Type="http://schemas.openxmlformats.org/officeDocument/2006/relationships/slide" Target="/ppt/slides/slide10.xml" Id="R231a5723d8464c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f439feda58642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65714df96943ab" /><Relationship Type="http://schemas.openxmlformats.org/officeDocument/2006/relationships/notesMaster" Target="/ppt/notesMasters/notesMaster1.xml" Id="R3a137612166c4e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d12645a5c54157" /><Relationship Type="http://schemas.openxmlformats.org/officeDocument/2006/relationships/notesMaster" Target="/ppt/notesMasters/notesMaster1.xml" Id="R9a8cbe55d88047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deadc530074822" /><Relationship Type="http://schemas.openxmlformats.org/officeDocument/2006/relationships/notesMaster" Target="/ppt/notesMasters/notesMaster1.xml" Id="R8b6a1aee2c1644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91254d35a24523" /><Relationship Type="http://schemas.openxmlformats.org/officeDocument/2006/relationships/notesMaster" Target="/ppt/notesMasters/notesMaster1.xml" Id="R83a7e5cbb2734a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501a3de95f4fe6" /><Relationship Type="http://schemas.openxmlformats.org/officeDocument/2006/relationships/notesMaster" Target="/ppt/notesMasters/notesMaster1.xml" Id="R391850ab1de24e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eb873eeda7458c" /><Relationship Type="http://schemas.openxmlformats.org/officeDocument/2006/relationships/notesMaster" Target="/ppt/notesMasters/notesMaster1.xml" Id="R8bfd6827140241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cc1b3a2af94ae6" /><Relationship Type="http://schemas.openxmlformats.org/officeDocument/2006/relationships/notesMaster" Target="/ppt/notesMasters/notesMaster1.xml" Id="Rf725486679874b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8b06933c6f4e25" /><Relationship Type="http://schemas.openxmlformats.org/officeDocument/2006/relationships/notesMaster" Target="/ppt/notesMasters/notesMaster1.xml" Id="R21dccf64621845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bb486e6c01444e" /><Relationship Type="http://schemas.openxmlformats.org/officeDocument/2006/relationships/notesMaster" Target="/ppt/notesMasters/notesMaster1.xml" Id="R266685d869cd44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5e22a70d5a4875" /><Relationship Type="http://schemas.openxmlformats.org/officeDocument/2006/relationships/notesMaster" Target="/ppt/notesMasters/notesMaster1.xml" Id="R60b6a1c7361f4a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introduce the project as a simple database application for a middle school. Say that the main goal is to track after-school clubs, members, advisors, events, budgets, and expenses across school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real-world problem. The important design idea is that the same club can exist for many years, but the advisor, budget, and membership can change each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show that the project follows the assignment exactly. The rest of the presentation explains how the SQL design and Python menu cover these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schema at a high level. Clubs, Faculty, and Students store basic facts. YearlyClubs connects a club to a school year, advisor, and budget. Membership, Meetings, FieldTrips, and Expenses all refer back to a specific club and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SQL is intentionally simple for an introductory database project. It still includes the important integrity rules: primary keys, foreign keys, and basic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app is deliberately basic: one menu, one database connection, and normal SQL statements. That makes it easy to demonstrate every required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connect the menu to the assignment checklist. Mention that budget reports use SUM and LEFT JOIN, while event views use UNION ALL to combine meetings and field trips.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most important requirements. Explain the overlap test in plain language: two time ranges overlap if the new start is before the old end and the new end is after the old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your presentation roadmap for the live demo. You do not need to demo all 18 options. Pick examples that prove the database works and that the conflict rule 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what the project demonstrates: database design, SQL constraints, sample data, Python database access, reporting queries, and scheduling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80471dd9c247a8"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2cbed82dba64c43" /><Relationship Type="http://schemas.openxmlformats.org/officeDocument/2006/relationships/slideLayout" Target="/ppt/slideLayouts/slideLayout2.xml" Id="Refd0387f0ed24e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d0387f0ed24e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4e5d1f9fac74cd5" /><Relationship Type="http://schemas.openxmlformats.org/officeDocument/2006/relationships/notesSlide" Target="/ppt/notesSlides/notesSlide1.xml" Id="Reb91792c55ac4a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7925061df144af9" /><Relationship Type="http://schemas.openxmlformats.org/officeDocument/2006/relationships/notesSlide" Target="/ppt/notesSlides/notesSlide2.xml" Id="R81ad4104e4214e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c3da18140ed4660" /><Relationship Type="http://schemas.openxmlformats.org/officeDocument/2006/relationships/notesSlide" Target="/ppt/notesSlides/notesSlide3.xml" Id="R84831a9e709e4f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cb2b81f11fc42fb" /><Relationship Type="http://schemas.openxmlformats.org/officeDocument/2006/relationships/notesSlide" Target="/ppt/notesSlides/notesSlide4.xml" Id="R093cbc3481a749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8b2076896fb4509" /><Relationship Type="http://schemas.openxmlformats.org/officeDocument/2006/relationships/notesSlide" Target="/ppt/notesSlides/notesSlide5.xml" Id="R9af8e73271ba4a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755f94424d84168" /><Relationship Type="http://schemas.openxmlformats.org/officeDocument/2006/relationships/notesSlide" Target="/ppt/notesSlides/notesSlide6.xml" Id="R18d02518517f41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8f4e6591ba645dd" /><Relationship Type="http://schemas.openxmlformats.org/officeDocument/2006/relationships/notesSlide" Target="/ppt/notesSlides/notesSlide7.xml" Id="R8ce475b5b0fd4f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4e7939263d94888" /><Relationship Type="http://schemas.openxmlformats.org/officeDocument/2006/relationships/notesSlide" Target="/ppt/notesSlides/notesSlide8.xml" Id="R32945912633944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9246e405fde42ba" /><Relationship Type="http://schemas.openxmlformats.org/officeDocument/2006/relationships/notesSlide" Target="/ppt/notesSlides/notesSlide9.xml" Id="R78a02bc1c70f40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651049257684a60" /><Relationship Type="http://schemas.openxmlformats.org/officeDocument/2006/relationships/notesSlide" Target="/ppt/notesSlides/notesSlide10.xml" Id="R172d82f2365a436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cover-rule">
            <a:extLst xmlns:a="http://schemas.openxmlformats.org/drawingml/2006/main">
              <a:ext uri="{FF2B5EF4-FFF2-40B4-BE49-F238E27FC236}">
                <a16:creationId xmlns:a16="http://schemas.microsoft.com/office/drawing/2014/main" id="{1A3C9562-6968-49DA-9821-8DD1094B9088}"/>
              </a:ext>
            </a:extLst>
          </p:cNvPr>
          <p:cNvSpPr>
            <a:spLocks xmlns:a="http://schemas.openxmlformats.org/drawingml/2006/main" noGrp="1"/>
          </p:cNvSpPr>
          <p:nvPr/>
        </p:nvSpPr>
        <p:spPr>
          <a:xfrm xmlns:a="http://schemas.openxmlformats.org/drawingml/2006/main">
            <a:off x="1066800" y="876300"/>
            <a:ext cx="2571750"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 name="cover-title">
            <a:extLst xmlns:a="http://schemas.openxmlformats.org/drawingml/2006/main">
              <a:ext uri="{FF2B5EF4-FFF2-40B4-BE49-F238E27FC236}">
                <a16:creationId xmlns:a16="http://schemas.microsoft.com/office/drawing/2014/main" id="{5B0B72A8-480B-43FA-BD3C-80E9752055C5}"/>
              </a:ext>
            </a:extLst>
          </p:cNvPr>
          <p:cNvSpPr>
            <a:spLocks xmlns:a="http://schemas.openxmlformats.org/drawingml/2006/main" noGrp="1"/>
          </p:cNvSpPr>
          <p:nvPr/>
        </p:nvSpPr>
        <p:spPr>
          <a:xfrm xmlns:a="http://schemas.openxmlformats.org/drawingml/2006/main">
            <a:off x="1066800" y="1314450"/>
            <a:ext cx="10858500" cy="1447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700" b="1">
                <a:solidFill>
                  <a:srgbClr val="111827"/>
                </a:solidFill>
              </a:defRPr>
            </a:pPr>
            <a:r>
              <a:rPr sz="5700" b="1">
                <a:solidFill>
                  <a:srgbClr val="111827"/>
                </a:solidFill>
              </a:rPr>
              <a:t>After-School Club Management Database</a:t>
            </a:r>
          </a:p>
        </p:txBody>
      </p:sp>
      <p:sp>
        <p:nvSpPr>
          <p:cNvPr id="3" name="cover-subtitle">
            <a:extLst xmlns:a="http://schemas.openxmlformats.org/drawingml/2006/main">
              <a:ext uri="{FF2B5EF4-FFF2-40B4-BE49-F238E27FC236}">
                <a16:creationId xmlns:a16="http://schemas.microsoft.com/office/drawing/2014/main" id="{9FDE6459-8017-46FA-AFC1-F95783EA0169}"/>
              </a:ext>
            </a:extLst>
          </p:cNvPr>
          <p:cNvSpPr>
            <a:spLocks xmlns:a="http://schemas.openxmlformats.org/drawingml/2006/main" noGrp="1"/>
          </p:cNvSpPr>
          <p:nvPr/>
        </p:nvSpPr>
        <p:spPr>
          <a:xfrm xmlns:a="http://schemas.openxmlformats.org/drawingml/2006/main">
            <a:off x="1066800" y="3124200"/>
            <a:ext cx="161544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a:solidFill>
                  <a:srgbClr val="4B5563"/>
                </a:solidFill>
              </a:defRPr>
            </a:pPr>
            <a:r>
              <a:rPr sz="2325">
                <a:solidFill>
                  <a:srgbClr val="4B5563"/>
                </a:solidFill>
              </a:rPr>
              <a:t>CS 405G Term Project | MySQL + Python Application</a:t>
            </a:r>
          </a:p>
        </p:txBody>
      </p:sp>
      <p:sp>
        <p:nvSpPr>
          <p:cNvPr id="4" name="cover-summary">
            <a:extLst xmlns:a="http://schemas.openxmlformats.org/drawingml/2006/main">
              <a:ext uri="{FF2B5EF4-FFF2-40B4-BE49-F238E27FC236}">
                <a16:creationId xmlns:a16="http://schemas.microsoft.com/office/drawing/2014/main" id="{CE374FAE-D450-4EC5-BDBD-AD52ABE239A8}"/>
              </a:ext>
            </a:extLst>
          </p:cNvPr>
          <p:cNvSpPr>
            <a:spLocks xmlns:a="http://schemas.openxmlformats.org/drawingml/2006/main" noGrp="1"/>
          </p:cNvSpPr>
          <p:nvPr/>
        </p:nvSpPr>
        <p:spPr>
          <a:xfrm xmlns:a="http://schemas.openxmlformats.org/drawingml/2006/main">
            <a:off x="1066800" y="3771900"/>
            <a:ext cx="103251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a:solidFill>
                  <a:srgbClr val="111827"/>
                </a:solidFill>
              </a:defRPr>
            </a:pPr>
            <a:r>
              <a:rPr sz="2250">
                <a:solidFill>
                  <a:srgbClr val="111827"/>
                </a:solidFill>
              </a:rPr>
              <a:t>Database design, MySQL implementation, and command-line Python application</a:t>
            </a:r>
          </a:p>
        </p:txBody>
      </p:sp>
      <p:sp>
        <p:nvSpPr>
          <p:cNvPr id="5" name="cover-long-rule">
            <a:extLst xmlns:a="http://schemas.openxmlformats.org/drawingml/2006/main">
              <a:ext uri="{FF2B5EF4-FFF2-40B4-BE49-F238E27FC236}">
                <a16:creationId xmlns:a16="http://schemas.microsoft.com/office/drawing/2014/main" id="{7D4587BB-97FC-446C-9247-99E091EABC7B}"/>
              </a:ext>
            </a:extLst>
          </p:cNvPr>
          <p:cNvSpPr>
            <a:spLocks xmlns:a="http://schemas.openxmlformats.org/drawingml/2006/main" noGrp="1"/>
          </p:cNvSpPr>
          <p:nvPr/>
        </p:nvSpPr>
        <p:spPr>
          <a:xfrm xmlns:a="http://schemas.openxmlformats.org/drawingml/2006/main">
            <a:off x="1066800" y="4705350"/>
            <a:ext cx="72390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team">
            <a:extLst xmlns:a="http://schemas.openxmlformats.org/drawingml/2006/main">
              <a:ext uri="{FF2B5EF4-FFF2-40B4-BE49-F238E27FC236}">
                <a16:creationId xmlns:a16="http://schemas.microsoft.com/office/drawing/2014/main" id="{5714891A-D0C3-4DA4-9756-7F4ED332B14E}"/>
              </a:ext>
            </a:extLst>
          </p:cNvPr>
          <p:cNvSpPr>
            <a:spLocks xmlns:a="http://schemas.openxmlformats.org/drawingml/2006/main" noGrp="1"/>
          </p:cNvSpPr>
          <p:nvPr/>
        </p:nvSpPr>
        <p:spPr>
          <a:xfrm xmlns:a="http://schemas.openxmlformats.org/drawingml/2006/main">
            <a:off x="1066800" y="5086350"/>
            <a:ext cx="16154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B5563"/>
                </a:solidFill>
              </a:defRPr>
            </a:pPr>
            <a:r>
              <a:rPr sz="1800">
                <a:solidFill>
                  <a:srgbClr val="4B5563"/>
                </a:solidFill>
              </a:rPr>
              <a:t>Alex Raketich, Matthew Buerger, Daniel Howard, Cecilia Shakadih</a:t>
            </a:r>
          </a:p>
        </p:txBody>
      </p:sp>
    </p:spTree>
    <p:extLst>
      <p:ext uri="{BB962C8B-B14F-4D97-AF65-F5344CB8AC3E}">
        <p14:creationId xmlns:p14="http://schemas.microsoft.com/office/powerpoint/2010/main" val="14696456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A7888D8C-9DF5-43FE-B795-37F5335B25D6}"/>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Problem We Solved</a:t>
            </a:r>
          </a:p>
        </p:txBody>
      </p:sp>
      <p:sp>
        <p:nvSpPr>
          <p:cNvPr id="2" name="slide-subtitle">
            <a:extLst xmlns:a="http://schemas.openxmlformats.org/drawingml/2006/main">
              <a:ext uri="{FF2B5EF4-FFF2-40B4-BE49-F238E27FC236}">
                <a16:creationId xmlns:a16="http://schemas.microsoft.com/office/drawing/2014/main" id="{5D81527D-505E-4597-9D4A-A1EEE53A3C4E}"/>
              </a:ext>
            </a:extLst>
          </p:cNvPr>
          <p:cNvSpPr>
            <a:spLocks xmlns:a="http://schemas.openxmlformats.org/drawingml/2006/main" noGrp="1"/>
          </p:cNvSpPr>
          <p:nvPr/>
        </p:nvSpPr>
        <p:spPr>
          <a:xfrm xmlns:a="http://schemas.openxmlformats.org/drawingml/2006/main">
            <a:off x="876300" y="1390650"/>
            <a:ext cx="92583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The school needs one place to manage clubs, people, schedules, and money.</a:t>
            </a:r>
          </a:p>
        </p:txBody>
      </p:sp>
      <p:sp>
        <p:nvSpPr>
          <p:cNvPr id="3" name="problem-claim">
            <a:extLst xmlns:a="http://schemas.openxmlformats.org/drawingml/2006/main">
              <a:ext uri="{FF2B5EF4-FFF2-40B4-BE49-F238E27FC236}">
                <a16:creationId xmlns:a16="http://schemas.microsoft.com/office/drawing/2014/main" id="{DDE00059-0C49-4B9B-9B6B-801564395E65}"/>
              </a:ext>
            </a:extLst>
          </p:cNvPr>
          <p:cNvSpPr>
            <a:spLocks xmlns:a="http://schemas.openxmlformats.org/drawingml/2006/main" noGrp="1"/>
          </p:cNvSpPr>
          <p:nvPr/>
        </p:nvSpPr>
        <p:spPr>
          <a:xfrm xmlns:a="http://schemas.openxmlformats.org/drawingml/2006/main">
            <a:off x="876300" y="2133600"/>
            <a:ext cx="7810500" cy="7448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a:solidFill>
                  <a:srgbClr val="1E3A8A"/>
                </a:solidFill>
              </a:defRPr>
            </a:pPr>
            <a:r>
              <a:rPr sz="3150" b="1">
                <a:solidFill>
                  <a:srgbClr val="1E3A8A"/>
                </a:solidFill>
              </a:rPr>
              <a:t>Without a database, club records can become scattered across sign-up sheets, calendars, and budget notes.</a:t>
            </a:r>
          </a:p>
        </p:txBody>
      </p:sp>
      <p:sp>
        <p:nvSpPr>
          <p:cNvPr id="4" name="dot-1">
            <a:extLst xmlns:a="http://schemas.openxmlformats.org/drawingml/2006/main">
              <a:ext uri="{FF2B5EF4-FFF2-40B4-BE49-F238E27FC236}">
                <a16:creationId xmlns:a16="http://schemas.microsoft.com/office/drawing/2014/main" id="{B1379B2E-85B7-43D3-9E2F-5178E6E15E74}"/>
              </a:ext>
            </a:extLst>
          </p:cNvPr>
          <p:cNvSpPr>
            <a:spLocks xmlns:a="http://schemas.openxmlformats.org/drawingml/2006/main" noGrp="1"/>
          </p:cNvSpPr>
          <p:nvPr/>
        </p:nvSpPr>
        <p:spPr>
          <a:xfrm xmlns:a="http://schemas.openxmlformats.org/drawingml/2006/main">
            <a:off x="9201150" y="21336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 name="bullet-text-1">
            <a:extLst xmlns:a="http://schemas.openxmlformats.org/drawingml/2006/main">
              <a:ext uri="{FF2B5EF4-FFF2-40B4-BE49-F238E27FC236}">
                <a16:creationId xmlns:a16="http://schemas.microsoft.com/office/drawing/2014/main" id="{9FA6930F-4F96-41DB-8D7D-B25DB99308F4}"/>
              </a:ext>
            </a:extLst>
          </p:cNvPr>
          <p:cNvSpPr>
            <a:spLocks xmlns:a="http://schemas.openxmlformats.org/drawingml/2006/main" noGrp="1"/>
          </p:cNvSpPr>
          <p:nvPr/>
        </p:nvSpPr>
        <p:spPr>
          <a:xfrm xmlns:a="http://schemas.openxmlformats.org/drawingml/2006/main">
            <a:off x="9467850" y="2133600"/>
            <a:ext cx="79438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Club advisors and budgets can change each school year.</a:t>
            </a:r>
          </a:p>
        </p:txBody>
      </p:sp>
      <p:sp>
        <p:nvSpPr>
          <p:cNvPr id="6" name="dot-2">
            <a:extLst xmlns:a="http://schemas.openxmlformats.org/drawingml/2006/main">
              <a:ext uri="{FF2B5EF4-FFF2-40B4-BE49-F238E27FC236}">
                <a16:creationId xmlns:a16="http://schemas.microsoft.com/office/drawing/2014/main" id="{2283FC72-185F-4B2B-A320-448CA2FB00D6}"/>
              </a:ext>
            </a:extLst>
          </p:cNvPr>
          <p:cNvSpPr>
            <a:spLocks xmlns:a="http://schemas.openxmlformats.org/drawingml/2006/main" noGrp="1"/>
          </p:cNvSpPr>
          <p:nvPr/>
        </p:nvSpPr>
        <p:spPr>
          <a:xfrm xmlns:a="http://schemas.openxmlformats.org/drawingml/2006/main">
            <a:off x="9201150" y="25527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 name="bullet-text-2">
            <a:extLst xmlns:a="http://schemas.openxmlformats.org/drawingml/2006/main">
              <a:ext uri="{FF2B5EF4-FFF2-40B4-BE49-F238E27FC236}">
                <a16:creationId xmlns:a16="http://schemas.microsoft.com/office/drawing/2014/main" id="{5FC25516-DD3C-4F42-A7C2-AED6783DA51B}"/>
              </a:ext>
            </a:extLst>
          </p:cNvPr>
          <p:cNvSpPr>
            <a:spLocks xmlns:a="http://schemas.openxmlformats.org/drawingml/2006/main" noGrp="1"/>
          </p:cNvSpPr>
          <p:nvPr/>
        </p:nvSpPr>
        <p:spPr>
          <a:xfrm xmlns:a="http://schemas.openxmlformats.org/drawingml/2006/main">
            <a:off x="9467850" y="2552700"/>
            <a:ext cx="79438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Students can join different clubs in different years.</a:t>
            </a:r>
          </a:p>
        </p:txBody>
      </p:sp>
      <p:sp>
        <p:nvSpPr>
          <p:cNvPr id="8" name="dot-3">
            <a:extLst xmlns:a="http://schemas.openxmlformats.org/drawingml/2006/main">
              <a:ext uri="{FF2B5EF4-FFF2-40B4-BE49-F238E27FC236}">
                <a16:creationId xmlns:a16="http://schemas.microsoft.com/office/drawing/2014/main" id="{1101B458-907A-4B9D-8F46-0EA5B15DBAE4}"/>
              </a:ext>
            </a:extLst>
          </p:cNvPr>
          <p:cNvSpPr>
            <a:spLocks xmlns:a="http://schemas.openxmlformats.org/drawingml/2006/main" noGrp="1"/>
          </p:cNvSpPr>
          <p:nvPr/>
        </p:nvSpPr>
        <p:spPr>
          <a:xfrm xmlns:a="http://schemas.openxmlformats.org/drawingml/2006/main">
            <a:off x="9201150" y="29718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9" name="bullet-text-3">
            <a:extLst xmlns:a="http://schemas.openxmlformats.org/drawingml/2006/main">
              <a:ext uri="{FF2B5EF4-FFF2-40B4-BE49-F238E27FC236}">
                <a16:creationId xmlns:a16="http://schemas.microsoft.com/office/drawing/2014/main" id="{426BAC75-52D2-4DCE-9FF8-A213DFBAA8D5}"/>
              </a:ext>
            </a:extLst>
          </p:cNvPr>
          <p:cNvSpPr>
            <a:spLocks xmlns:a="http://schemas.openxmlformats.org/drawingml/2006/main" noGrp="1"/>
          </p:cNvSpPr>
          <p:nvPr/>
        </p:nvSpPr>
        <p:spPr>
          <a:xfrm xmlns:a="http://schemas.openxmlformats.org/drawingml/2006/main">
            <a:off x="9467850" y="2971800"/>
            <a:ext cx="79438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Meetings and field trips need dates, times, and descriptions.</a:t>
            </a:r>
          </a:p>
        </p:txBody>
      </p:sp>
      <p:sp>
        <p:nvSpPr>
          <p:cNvPr id="10" name="dot-4">
            <a:extLst xmlns:a="http://schemas.openxmlformats.org/drawingml/2006/main">
              <a:ext uri="{FF2B5EF4-FFF2-40B4-BE49-F238E27FC236}">
                <a16:creationId xmlns:a16="http://schemas.microsoft.com/office/drawing/2014/main" id="{1AB7E2DE-16D7-483D-A8C7-F947BF80A198}"/>
              </a:ext>
            </a:extLst>
          </p:cNvPr>
          <p:cNvSpPr>
            <a:spLocks xmlns:a="http://schemas.openxmlformats.org/drawingml/2006/main" noGrp="1"/>
          </p:cNvSpPr>
          <p:nvPr/>
        </p:nvSpPr>
        <p:spPr>
          <a:xfrm xmlns:a="http://schemas.openxmlformats.org/drawingml/2006/main">
            <a:off x="9201150" y="33909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1" name="bullet-text-4">
            <a:extLst xmlns:a="http://schemas.openxmlformats.org/drawingml/2006/main">
              <a:ext uri="{FF2B5EF4-FFF2-40B4-BE49-F238E27FC236}">
                <a16:creationId xmlns:a16="http://schemas.microsoft.com/office/drawing/2014/main" id="{9BEDD49A-2AA8-4591-AC43-EF62F9E096BE}"/>
              </a:ext>
            </a:extLst>
          </p:cNvPr>
          <p:cNvSpPr>
            <a:spLocks xmlns:a="http://schemas.openxmlformats.org/drawingml/2006/main" noGrp="1"/>
          </p:cNvSpPr>
          <p:nvPr/>
        </p:nvSpPr>
        <p:spPr>
          <a:xfrm xmlns:a="http://schemas.openxmlformats.org/drawingml/2006/main">
            <a:off x="9467850" y="3390900"/>
            <a:ext cx="79438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Expenses need to be compared against each club's yearly budget.</a:t>
            </a:r>
          </a:p>
        </p:txBody>
      </p:sp>
    </p:spTree>
    <p:extLst>
      <p:ext uri="{BB962C8B-B14F-4D97-AF65-F5344CB8AC3E}">
        <p14:creationId xmlns:p14="http://schemas.microsoft.com/office/powerpoint/2010/main" val="11913880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AF14C825-0287-4AC0-B050-373F3256B766}"/>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Main Requirements</a:t>
            </a:r>
          </a:p>
        </p:txBody>
      </p:sp>
      <p:sp>
        <p:nvSpPr>
          <p:cNvPr id="2" name="slide-subtitle">
            <a:extLst xmlns:a="http://schemas.openxmlformats.org/drawingml/2006/main">
              <a:ext uri="{FF2B5EF4-FFF2-40B4-BE49-F238E27FC236}">
                <a16:creationId xmlns:a16="http://schemas.microsoft.com/office/drawing/2014/main" id="{56953782-C686-404A-B6D6-5E3FC13FFC0F}"/>
              </a:ext>
            </a:extLst>
          </p:cNvPr>
          <p:cNvSpPr>
            <a:spLocks xmlns:a="http://schemas.openxmlformats.org/drawingml/2006/main" noGrp="1"/>
          </p:cNvSpPr>
          <p:nvPr/>
        </p:nvSpPr>
        <p:spPr>
          <a:xfrm xmlns:a="http://schemas.openxmlformats.org/drawingml/2006/main">
            <a:off x="876300" y="1390650"/>
            <a:ext cx="6629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The application is organized around four required areas.</a:t>
            </a:r>
          </a:p>
        </p:txBody>
      </p:sp>
      <p:sp>
        <p:nvSpPr>
          <p:cNvPr id="3" name="">
            <a:extLst xmlns:a="http://schemas.openxmlformats.org/drawingml/2006/main">
              <a:ext uri="{FF2B5EF4-FFF2-40B4-BE49-F238E27FC236}">
                <a16:creationId xmlns:a16="http://schemas.microsoft.com/office/drawing/2014/main" id="{160C94DE-A6C5-4C88-9F85-7A4D5C6061CF}"/>
              </a:ext>
            </a:extLst>
          </p:cNvPr>
          <p:cNvSpPr>
            <a:spLocks xmlns:a="http://schemas.openxmlformats.org/drawingml/2006/main" noGrp="1"/>
          </p:cNvSpPr>
          <p:nvPr/>
        </p:nvSpPr>
        <p:spPr>
          <a:xfrm xmlns:a="http://schemas.openxmlformats.org/drawingml/2006/main">
            <a:off x="876300" y="2324100"/>
            <a:ext cx="8143875" cy="3505200"/>
          </a:xfrm>
          <a:prstGeom xmlns:a="http://schemas.openxmlformats.org/drawingml/2006/main" prst="roundRect">
            <a:avLst>
              <a:gd name="adj" fmla="val 543"/>
            </a:avLst>
          </a:prstGeom>
          <a:solidFill xmlns:a="http://schemas.openxmlformats.org/drawingml/2006/main">
            <a:srgbClr val="EFF6FF"/>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F69396F6-F43A-4072-BE3A-4D0E0266B2C8}"/>
              </a:ext>
            </a:extLst>
          </p:cNvPr>
          <p:cNvSpPr>
            <a:spLocks xmlns:a="http://schemas.openxmlformats.org/drawingml/2006/main" noGrp="1"/>
          </p:cNvSpPr>
          <p:nvPr/>
        </p:nvSpPr>
        <p:spPr>
          <a:xfrm xmlns:a="http://schemas.openxmlformats.org/drawingml/2006/main">
            <a:off x="1123950" y="2571750"/>
            <a:ext cx="76581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11827"/>
                </a:solidFill>
              </a:defRPr>
            </a:pPr>
            <a:r>
              <a:rPr sz="2550" b="1">
                <a:solidFill>
                  <a:srgbClr val="111827"/>
                </a:solidFill>
              </a:rPr>
              <a:t>1. Clubs</a:t>
            </a:r>
          </a:p>
        </p:txBody>
      </p:sp>
      <p:sp>
        <p:nvSpPr>
          <p:cNvPr id="5" name="">
            <a:extLst xmlns:a="http://schemas.openxmlformats.org/drawingml/2006/main">
              <a:ext uri="{FF2B5EF4-FFF2-40B4-BE49-F238E27FC236}">
                <a16:creationId xmlns:a16="http://schemas.microsoft.com/office/drawing/2014/main" id="{BCFCAE80-68EA-40F8-8C89-E6FB6E41761D}"/>
              </a:ext>
            </a:extLst>
          </p:cNvPr>
          <p:cNvSpPr>
            <a:spLocks xmlns:a="http://schemas.openxmlformats.org/drawingml/2006/main" noGrp="1"/>
          </p:cNvSpPr>
          <p:nvPr/>
        </p:nvSpPr>
        <p:spPr>
          <a:xfrm xmlns:a="http://schemas.openxmlformats.org/drawingml/2006/main">
            <a:off x="1123950" y="3009900"/>
            <a:ext cx="76581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Add/delete meetings and field trips.</a:t>
            </a:r>
          </a:p>
          <a:p xmlns:a="http://schemas.openxmlformats.org/drawingml/2006/main">
            <a:pPr>
              <a:defRPr sz="1950">
                <a:solidFill>
                  <a:srgbClr val="111827"/>
                </a:solidFill>
              </a:defRPr>
            </a:pPr>
            <a:r>
              <a:rPr sz="1950">
                <a:solidFill>
                  <a:srgbClr val="111827"/>
                </a:solidFill>
              </a:rPr>
              <a:t>View members, events, expenses, and remaining budget.</a:t>
            </a:r>
          </a:p>
        </p:txBody>
      </p:sp>
      <p:sp>
        <p:nvSpPr>
          <p:cNvPr id="6" name="">
            <a:extLst xmlns:a="http://schemas.openxmlformats.org/drawingml/2006/main">
              <a:ext uri="{FF2B5EF4-FFF2-40B4-BE49-F238E27FC236}">
                <a16:creationId xmlns:a16="http://schemas.microsoft.com/office/drawing/2014/main" id="{20DE3027-25D1-428C-B230-D9289170F901}"/>
              </a:ext>
            </a:extLst>
          </p:cNvPr>
          <p:cNvSpPr>
            <a:spLocks xmlns:a="http://schemas.openxmlformats.org/drawingml/2006/main" noGrp="1"/>
          </p:cNvSpPr>
          <p:nvPr/>
        </p:nvSpPr>
        <p:spPr>
          <a:xfrm xmlns:a="http://schemas.openxmlformats.org/drawingml/2006/main">
            <a:off x="9267825" y="2324100"/>
            <a:ext cx="8143875" cy="3505200"/>
          </a:xfrm>
          <a:prstGeom xmlns:a="http://schemas.openxmlformats.org/drawingml/2006/main" prst="roundRect">
            <a:avLst>
              <a:gd name="adj" fmla="val 543"/>
            </a:avLst>
          </a:prstGeom>
          <a:solidFill xmlns:a="http://schemas.openxmlformats.org/drawingml/2006/main">
            <a:srgbClr val="FFF7ED"/>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CA8AF05-8A62-42EB-8340-1BCEF6A15632}"/>
              </a:ext>
            </a:extLst>
          </p:cNvPr>
          <p:cNvSpPr>
            <a:spLocks xmlns:a="http://schemas.openxmlformats.org/drawingml/2006/main" noGrp="1"/>
          </p:cNvSpPr>
          <p:nvPr/>
        </p:nvSpPr>
        <p:spPr>
          <a:xfrm xmlns:a="http://schemas.openxmlformats.org/drawingml/2006/main">
            <a:off x="9525000" y="2571750"/>
            <a:ext cx="76581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11827"/>
                </a:solidFill>
              </a:defRPr>
            </a:pPr>
            <a:r>
              <a:rPr sz="2550" b="1">
                <a:solidFill>
                  <a:srgbClr val="111827"/>
                </a:solidFill>
              </a:rPr>
              <a:t>2. Faculty</a:t>
            </a:r>
          </a:p>
        </p:txBody>
      </p:sp>
      <p:sp>
        <p:nvSpPr>
          <p:cNvPr id="8" name="">
            <a:extLst xmlns:a="http://schemas.openxmlformats.org/drawingml/2006/main">
              <a:ext uri="{FF2B5EF4-FFF2-40B4-BE49-F238E27FC236}">
                <a16:creationId xmlns:a16="http://schemas.microsoft.com/office/drawing/2014/main" id="{EED11F05-F8B5-40A0-A4F3-48652E6D7AB2}"/>
              </a:ext>
            </a:extLst>
          </p:cNvPr>
          <p:cNvSpPr>
            <a:spLocks xmlns:a="http://schemas.openxmlformats.org/drawingml/2006/main" noGrp="1"/>
          </p:cNvSpPr>
          <p:nvPr/>
        </p:nvSpPr>
        <p:spPr>
          <a:xfrm xmlns:a="http://schemas.openxmlformats.org/drawingml/2006/main">
            <a:off x="9525000" y="3009900"/>
            <a:ext cx="76581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Assign one advisor to each club/year.</a:t>
            </a:r>
          </a:p>
          <a:p xmlns:a="http://schemas.openxmlformats.org/drawingml/2006/main">
            <a:pPr>
              <a:defRPr sz="1950">
                <a:solidFill>
                  <a:srgbClr val="111827"/>
                </a:solidFill>
              </a:defRPr>
            </a:pPr>
            <a:r>
              <a:rPr sz="1950">
                <a:solidFill>
                  <a:srgbClr val="111827"/>
                </a:solidFill>
              </a:rPr>
              <a:t>List all clubs advised by a faculty member.</a:t>
            </a:r>
          </a:p>
        </p:txBody>
      </p:sp>
      <p:sp>
        <p:nvSpPr>
          <p:cNvPr id="9" name="">
            <a:extLst xmlns:a="http://schemas.openxmlformats.org/drawingml/2006/main">
              <a:ext uri="{FF2B5EF4-FFF2-40B4-BE49-F238E27FC236}">
                <a16:creationId xmlns:a16="http://schemas.microsoft.com/office/drawing/2014/main" id="{0D3C06F9-7248-47F9-A8EB-5BBAB9E5E48C}"/>
              </a:ext>
            </a:extLst>
          </p:cNvPr>
          <p:cNvSpPr>
            <a:spLocks xmlns:a="http://schemas.openxmlformats.org/drawingml/2006/main" noGrp="1"/>
          </p:cNvSpPr>
          <p:nvPr/>
        </p:nvSpPr>
        <p:spPr>
          <a:xfrm xmlns:a="http://schemas.openxmlformats.org/drawingml/2006/main">
            <a:off x="876300" y="6076950"/>
            <a:ext cx="8143875" cy="3505200"/>
          </a:xfrm>
          <a:prstGeom xmlns:a="http://schemas.openxmlformats.org/drawingml/2006/main" prst="roundRect">
            <a:avLst>
              <a:gd name="adj" fmla="val 543"/>
            </a:avLst>
          </a:prstGeom>
          <a:solidFill xmlns:a="http://schemas.openxmlformats.org/drawingml/2006/main">
            <a:srgbClr val="F3F4F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1666D6AB-B398-49FC-96C0-4C2099AC67AA}"/>
              </a:ext>
            </a:extLst>
          </p:cNvPr>
          <p:cNvSpPr>
            <a:spLocks xmlns:a="http://schemas.openxmlformats.org/drawingml/2006/main" noGrp="1"/>
          </p:cNvSpPr>
          <p:nvPr/>
        </p:nvSpPr>
        <p:spPr>
          <a:xfrm xmlns:a="http://schemas.openxmlformats.org/drawingml/2006/main">
            <a:off x="1123950" y="6324600"/>
            <a:ext cx="76581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11827"/>
                </a:solidFill>
              </a:defRPr>
            </a:pPr>
            <a:r>
              <a:rPr sz="2550" b="1">
                <a:solidFill>
                  <a:srgbClr val="111827"/>
                </a:solidFill>
              </a:rPr>
              <a:t>3. Students</a:t>
            </a:r>
          </a:p>
        </p:txBody>
      </p:sp>
      <p:sp>
        <p:nvSpPr>
          <p:cNvPr id="11" name="">
            <a:extLst xmlns:a="http://schemas.openxmlformats.org/drawingml/2006/main">
              <a:ext uri="{FF2B5EF4-FFF2-40B4-BE49-F238E27FC236}">
                <a16:creationId xmlns:a16="http://schemas.microsoft.com/office/drawing/2014/main" id="{DB10DE79-8EA5-49EC-B7A8-1DC6F225F996}"/>
              </a:ext>
            </a:extLst>
          </p:cNvPr>
          <p:cNvSpPr>
            <a:spLocks xmlns:a="http://schemas.openxmlformats.org/drawingml/2006/main" noGrp="1"/>
          </p:cNvSpPr>
          <p:nvPr/>
        </p:nvSpPr>
        <p:spPr>
          <a:xfrm xmlns:a="http://schemas.openxmlformats.org/drawingml/2006/main">
            <a:off x="1123950" y="6762750"/>
            <a:ext cx="76581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Join or leave clubs.</a:t>
            </a:r>
          </a:p>
          <a:p xmlns:a="http://schemas.openxmlformats.org/drawingml/2006/main">
            <a:pPr>
              <a:defRPr sz="1950">
                <a:solidFill>
                  <a:srgbClr val="111827"/>
                </a:solidFill>
              </a:defRPr>
            </a:pPr>
            <a:r>
              <a:rPr sz="1950">
                <a:solidFill>
                  <a:srgbClr val="111827"/>
                </a:solidFill>
              </a:rPr>
              <a:t>List a student's clubs and events for a specific date.</a:t>
            </a:r>
          </a:p>
        </p:txBody>
      </p:sp>
      <p:sp>
        <p:nvSpPr>
          <p:cNvPr id="12" name="">
            <a:extLst xmlns:a="http://schemas.openxmlformats.org/drawingml/2006/main">
              <a:ext uri="{FF2B5EF4-FFF2-40B4-BE49-F238E27FC236}">
                <a16:creationId xmlns:a16="http://schemas.microsoft.com/office/drawing/2014/main" id="{2E3E4F4C-9225-4D74-BC4B-E5880C2C2185}"/>
              </a:ext>
            </a:extLst>
          </p:cNvPr>
          <p:cNvSpPr>
            <a:spLocks xmlns:a="http://schemas.openxmlformats.org/drawingml/2006/main" noGrp="1"/>
          </p:cNvSpPr>
          <p:nvPr/>
        </p:nvSpPr>
        <p:spPr>
          <a:xfrm xmlns:a="http://schemas.openxmlformats.org/drawingml/2006/main">
            <a:off x="9267825" y="6076950"/>
            <a:ext cx="8143875" cy="3505200"/>
          </a:xfrm>
          <a:prstGeom xmlns:a="http://schemas.openxmlformats.org/drawingml/2006/main" prst="roundRect">
            <a:avLst>
              <a:gd name="adj" fmla="val 543"/>
            </a:avLst>
          </a:prstGeom>
          <a:solidFill xmlns:a="http://schemas.openxmlformats.org/drawingml/2006/main">
            <a:srgbClr val="F3F4F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828029B-074D-4D66-894C-788191A1F9EA}"/>
              </a:ext>
            </a:extLst>
          </p:cNvPr>
          <p:cNvSpPr>
            <a:spLocks xmlns:a="http://schemas.openxmlformats.org/drawingml/2006/main" noGrp="1"/>
          </p:cNvSpPr>
          <p:nvPr/>
        </p:nvSpPr>
        <p:spPr>
          <a:xfrm xmlns:a="http://schemas.openxmlformats.org/drawingml/2006/main">
            <a:off x="9525000" y="6324600"/>
            <a:ext cx="76581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11827"/>
                </a:solidFill>
              </a:defRPr>
            </a:pPr>
            <a:r>
              <a:rPr sz="2550" b="1">
                <a:solidFill>
                  <a:srgbClr val="111827"/>
                </a:solidFill>
              </a:rPr>
              <a:t>4. Conflicts</a:t>
            </a:r>
          </a:p>
        </p:txBody>
      </p:sp>
      <p:sp>
        <p:nvSpPr>
          <p:cNvPr id="14" name="">
            <a:extLst xmlns:a="http://schemas.openxmlformats.org/drawingml/2006/main">
              <a:ext uri="{FF2B5EF4-FFF2-40B4-BE49-F238E27FC236}">
                <a16:creationId xmlns:a16="http://schemas.microsoft.com/office/drawing/2014/main" id="{3A0E443F-F4CE-4A17-A6DB-FCE9DDCFE4AE}"/>
              </a:ext>
            </a:extLst>
          </p:cNvPr>
          <p:cNvSpPr>
            <a:spLocks xmlns:a="http://schemas.openxmlformats.org/drawingml/2006/main" noGrp="1"/>
          </p:cNvSpPr>
          <p:nvPr/>
        </p:nvSpPr>
        <p:spPr>
          <a:xfrm xmlns:a="http://schemas.openxmlformats.org/drawingml/2006/main">
            <a:off x="9525000" y="6762750"/>
            <a:ext cx="76581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Prevent classroom double-booking.</a:t>
            </a:r>
          </a:p>
          <a:p xmlns:a="http://schemas.openxmlformats.org/drawingml/2006/main">
            <a:pPr>
              <a:defRPr sz="1950">
                <a:solidFill>
                  <a:srgbClr val="111827"/>
                </a:solidFill>
              </a:defRPr>
            </a:pPr>
            <a:r>
              <a:rPr sz="1950">
                <a:solidFill>
                  <a:srgbClr val="111827"/>
                </a:solidFill>
              </a:rPr>
              <a:t>Prevent a club from scheduling overlapping meetings.</a:t>
            </a:r>
          </a:p>
        </p:txBody>
      </p:sp>
    </p:spTree>
    <p:extLst>
      <p:ext uri="{BB962C8B-B14F-4D97-AF65-F5344CB8AC3E}">
        <p14:creationId xmlns:p14="http://schemas.microsoft.com/office/powerpoint/2010/main" val="12137025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AB325C31-4122-4792-B0F0-C4983B456609}"/>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Database Design</a:t>
            </a:r>
          </a:p>
        </p:txBody>
      </p:sp>
      <p:sp>
        <p:nvSpPr>
          <p:cNvPr id="2" name="slide-subtitle">
            <a:extLst xmlns:a="http://schemas.openxmlformats.org/drawingml/2006/main">
              <a:ext uri="{FF2B5EF4-FFF2-40B4-BE49-F238E27FC236}">
                <a16:creationId xmlns:a16="http://schemas.microsoft.com/office/drawing/2014/main" id="{A6174C55-C287-43E5-BAD0-A08C33CEC57C}"/>
              </a:ext>
            </a:extLst>
          </p:cNvPr>
          <p:cNvSpPr>
            <a:spLocks xmlns:a="http://schemas.openxmlformats.org/drawingml/2006/main" noGrp="1"/>
          </p:cNvSpPr>
          <p:nvPr/>
        </p:nvSpPr>
        <p:spPr>
          <a:xfrm xmlns:a="http://schemas.openxmlformats.org/drawingml/2006/main">
            <a:off x="876300" y="1390650"/>
            <a:ext cx="82105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YearlyClubs is the center because clubs change across school years.</a:t>
            </a:r>
          </a:p>
        </p:txBody>
      </p:sp>
      <p:sp>
        <p:nvSpPr>
          <p:cNvPr id="3" name="entity-Clubs">
            <a:extLst xmlns:a="http://schemas.openxmlformats.org/drawingml/2006/main">
              <a:ext uri="{FF2B5EF4-FFF2-40B4-BE49-F238E27FC236}">
                <a16:creationId xmlns:a16="http://schemas.microsoft.com/office/drawing/2014/main" id="{AF1F7372-1379-43CC-AB4D-50F5FD3972B4}"/>
              </a:ext>
            </a:extLst>
          </p:cNvPr>
          <p:cNvSpPr>
            <a:spLocks xmlns:a="http://schemas.openxmlformats.org/drawingml/2006/main" noGrp="1"/>
          </p:cNvSpPr>
          <p:nvPr/>
        </p:nvSpPr>
        <p:spPr>
          <a:xfrm xmlns:a="http://schemas.openxmlformats.org/drawingml/2006/main">
            <a:off x="876300" y="2019300"/>
            <a:ext cx="5359400" cy="1428750"/>
          </a:xfrm>
          <a:prstGeom xmlns:a="http://schemas.openxmlformats.org/drawingml/2006/main" prst="roundRect">
            <a:avLst>
              <a:gd name="adj" fmla="val 1333"/>
            </a:avLst>
          </a:prstGeom>
          <a:solidFill xmlns:a="http://schemas.openxmlformats.org/drawingml/2006/main">
            <a:srgbClr val="EFF6FF"/>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28305FF-23FF-4FE6-A5AA-7300D5575CF9}"/>
              </a:ext>
            </a:extLst>
          </p:cNvPr>
          <p:cNvSpPr>
            <a:spLocks xmlns:a="http://schemas.openxmlformats.org/drawingml/2006/main" noGrp="1"/>
          </p:cNvSpPr>
          <p:nvPr/>
        </p:nvSpPr>
        <p:spPr>
          <a:xfrm xmlns:a="http://schemas.openxmlformats.org/drawingml/2006/main">
            <a:off x="1085850" y="2190750"/>
            <a:ext cx="4933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11827"/>
                </a:solidFill>
              </a:defRPr>
            </a:pPr>
            <a:r>
              <a:rPr sz="2100" b="1">
                <a:solidFill>
                  <a:srgbClr val="111827"/>
                </a:solidFill>
              </a:rPr>
              <a:t>Clubs</a:t>
            </a:r>
          </a:p>
        </p:txBody>
      </p:sp>
      <p:sp>
        <p:nvSpPr>
          <p:cNvPr id="5" name="">
            <a:extLst xmlns:a="http://schemas.openxmlformats.org/drawingml/2006/main">
              <a:ext uri="{FF2B5EF4-FFF2-40B4-BE49-F238E27FC236}">
                <a16:creationId xmlns:a16="http://schemas.microsoft.com/office/drawing/2014/main" id="{03A52CC7-C02D-4101-AD00-BF07637D757C}"/>
              </a:ext>
            </a:extLst>
          </p:cNvPr>
          <p:cNvSpPr>
            <a:spLocks xmlns:a="http://schemas.openxmlformats.org/drawingml/2006/main" noGrp="1"/>
          </p:cNvSpPr>
          <p:nvPr/>
        </p:nvSpPr>
        <p:spPr>
          <a:xfrm xmlns:a="http://schemas.openxmlformats.org/drawingml/2006/main">
            <a:off x="1085850" y="2533650"/>
            <a:ext cx="49339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4B5563"/>
                </a:solidFill>
              </a:defRPr>
            </a:pPr>
            <a:r>
              <a:rPr sz="1350">
                <a:solidFill>
                  <a:srgbClr val="4B5563"/>
                </a:solidFill>
              </a:rPr>
              <a:t>club_name</a:t>
            </a:r>
          </a:p>
        </p:txBody>
      </p:sp>
      <p:sp>
        <p:nvSpPr>
          <p:cNvPr id="6" name="entity-YearlyClubs">
            <a:extLst xmlns:a="http://schemas.openxmlformats.org/drawingml/2006/main">
              <a:ext uri="{FF2B5EF4-FFF2-40B4-BE49-F238E27FC236}">
                <a16:creationId xmlns:a16="http://schemas.microsoft.com/office/drawing/2014/main" id="{516C5E7E-1DF7-4D69-B457-2E86B0004F3E}"/>
              </a:ext>
            </a:extLst>
          </p:cNvPr>
          <p:cNvSpPr>
            <a:spLocks xmlns:a="http://schemas.openxmlformats.org/drawingml/2006/main" noGrp="1"/>
          </p:cNvSpPr>
          <p:nvPr/>
        </p:nvSpPr>
        <p:spPr>
          <a:xfrm xmlns:a="http://schemas.openxmlformats.org/drawingml/2006/main">
            <a:off x="6464300" y="2019300"/>
            <a:ext cx="5359400" cy="1428750"/>
          </a:xfrm>
          <a:prstGeom xmlns:a="http://schemas.openxmlformats.org/drawingml/2006/main" prst="roundRect">
            <a:avLst>
              <a:gd name="adj" fmla="val 1333"/>
            </a:avLst>
          </a:prstGeom>
          <a:solidFill xmlns:a="http://schemas.openxmlformats.org/drawingml/2006/main">
            <a:srgbClr val="FFF7ED"/>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1AA9097-5C30-40CA-885D-2F1805B692DF}"/>
              </a:ext>
            </a:extLst>
          </p:cNvPr>
          <p:cNvSpPr>
            <a:spLocks xmlns:a="http://schemas.openxmlformats.org/drawingml/2006/main" noGrp="1"/>
          </p:cNvSpPr>
          <p:nvPr/>
        </p:nvSpPr>
        <p:spPr>
          <a:xfrm xmlns:a="http://schemas.openxmlformats.org/drawingml/2006/main">
            <a:off x="6667500" y="2190750"/>
            <a:ext cx="4933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11827"/>
                </a:solidFill>
              </a:defRPr>
            </a:pPr>
            <a:r>
              <a:rPr sz="2100" b="1">
                <a:solidFill>
                  <a:srgbClr val="111827"/>
                </a:solidFill>
              </a:rPr>
              <a:t>YearlyClubs</a:t>
            </a:r>
          </a:p>
        </p:txBody>
      </p:sp>
      <p:sp>
        <p:nvSpPr>
          <p:cNvPr id="8" name="">
            <a:extLst xmlns:a="http://schemas.openxmlformats.org/drawingml/2006/main">
              <a:ext uri="{FF2B5EF4-FFF2-40B4-BE49-F238E27FC236}">
                <a16:creationId xmlns:a16="http://schemas.microsoft.com/office/drawing/2014/main" id="{A775EA9A-C855-4F8B-9890-51764847612C}"/>
              </a:ext>
            </a:extLst>
          </p:cNvPr>
          <p:cNvSpPr>
            <a:spLocks xmlns:a="http://schemas.openxmlformats.org/drawingml/2006/main" noGrp="1"/>
          </p:cNvSpPr>
          <p:nvPr/>
        </p:nvSpPr>
        <p:spPr>
          <a:xfrm xmlns:a="http://schemas.openxmlformats.org/drawingml/2006/main">
            <a:off x="6667500" y="2533650"/>
            <a:ext cx="49339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4B5563"/>
                </a:solidFill>
              </a:defRPr>
            </a:pPr>
            <a:r>
              <a:rPr sz="1350">
                <a:solidFill>
                  <a:srgbClr val="4B5563"/>
                </a:solidFill>
              </a:rPr>
              <a:t>club_name, school_year, faculty_id, budget</a:t>
            </a:r>
          </a:p>
        </p:txBody>
      </p:sp>
      <p:sp>
        <p:nvSpPr>
          <p:cNvPr id="9" name="entity-Faculty">
            <a:extLst xmlns:a="http://schemas.openxmlformats.org/drawingml/2006/main">
              <a:ext uri="{FF2B5EF4-FFF2-40B4-BE49-F238E27FC236}">
                <a16:creationId xmlns:a16="http://schemas.microsoft.com/office/drawing/2014/main" id="{C2D1F50A-5468-4DD1-A0FA-C19E2F466369}"/>
              </a:ext>
            </a:extLst>
          </p:cNvPr>
          <p:cNvSpPr>
            <a:spLocks xmlns:a="http://schemas.openxmlformats.org/drawingml/2006/main" noGrp="1"/>
          </p:cNvSpPr>
          <p:nvPr/>
        </p:nvSpPr>
        <p:spPr>
          <a:xfrm xmlns:a="http://schemas.openxmlformats.org/drawingml/2006/main">
            <a:off x="12052300" y="2019300"/>
            <a:ext cx="5359400" cy="1428750"/>
          </a:xfrm>
          <a:prstGeom xmlns:a="http://schemas.openxmlformats.org/drawingml/2006/main" prst="roundRect">
            <a:avLst>
              <a:gd name="adj" fmla="val 1333"/>
            </a:avLst>
          </a:prstGeom>
          <a:solidFill xmlns:a="http://schemas.openxmlformats.org/drawingml/2006/main">
            <a:srgbClr val="F3F4F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248B230B-509F-4542-BE16-3E220F90E647}"/>
              </a:ext>
            </a:extLst>
          </p:cNvPr>
          <p:cNvSpPr>
            <a:spLocks xmlns:a="http://schemas.openxmlformats.org/drawingml/2006/main" noGrp="1"/>
          </p:cNvSpPr>
          <p:nvPr/>
        </p:nvSpPr>
        <p:spPr>
          <a:xfrm xmlns:a="http://schemas.openxmlformats.org/drawingml/2006/main">
            <a:off x="12268200" y="2190750"/>
            <a:ext cx="4933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11827"/>
                </a:solidFill>
              </a:defRPr>
            </a:pPr>
            <a:r>
              <a:rPr sz="2100" b="1">
                <a:solidFill>
                  <a:srgbClr val="111827"/>
                </a:solidFill>
              </a:rPr>
              <a:t>Faculty</a:t>
            </a:r>
          </a:p>
        </p:txBody>
      </p:sp>
      <p:sp>
        <p:nvSpPr>
          <p:cNvPr id="11" name="">
            <a:extLst xmlns:a="http://schemas.openxmlformats.org/drawingml/2006/main">
              <a:ext uri="{FF2B5EF4-FFF2-40B4-BE49-F238E27FC236}">
                <a16:creationId xmlns:a16="http://schemas.microsoft.com/office/drawing/2014/main" id="{F6E54668-05F2-42BD-AD6C-E04A33920DEF}"/>
              </a:ext>
            </a:extLst>
          </p:cNvPr>
          <p:cNvSpPr>
            <a:spLocks xmlns:a="http://schemas.openxmlformats.org/drawingml/2006/main" noGrp="1"/>
          </p:cNvSpPr>
          <p:nvPr/>
        </p:nvSpPr>
        <p:spPr>
          <a:xfrm xmlns:a="http://schemas.openxmlformats.org/drawingml/2006/main">
            <a:off x="12268200" y="2533650"/>
            <a:ext cx="49339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4B5563"/>
                </a:solidFill>
              </a:defRPr>
            </a:pPr>
            <a:r>
              <a:rPr sz="1350">
                <a:solidFill>
                  <a:srgbClr val="4B5563"/>
                </a:solidFill>
              </a:rPr>
              <a:t>faculty_id, faculty_name</a:t>
            </a:r>
          </a:p>
        </p:txBody>
      </p:sp>
      <p:sp>
        <p:nvSpPr>
          <p:cNvPr id="12" name="entity-Students">
            <a:extLst xmlns:a="http://schemas.openxmlformats.org/drawingml/2006/main">
              <a:ext uri="{FF2B5EF4-FFF2-40B4-BE49-F238E27FC236}">
                <a16:creationId xmlns:a16="http://schemas.microsoft.com/office/drawing/2014/main" id="{3303EE22-1AE8-4076-B344-CBDE847A52EF}"/>
              </a:ext>
            </a:extLst>
          </p:cNvPr>
          <p:cNvSpPr>
            <a:spLocks xmlns:a="http://schemas.openxmlformats.org/drawingml/2006/main" noGrp="1"/>
          </p:cNvSpPr>
          <p:nvPr/>
        </p:nvSpPr>
        <p:spPr>
          <a:xfrm xmlns:a="http://schemas.openxmlformats.org/drawingml/2006/main">
            <a:off x="876300" y="4610100"/>
            <a:ext cx="5359400" cy="1428750"/>
          </a:xfrm>
          <a:prstGeom xmlns:a="http://schemas.openxmlformats.org/drawingml/2006/main" prst="roundRect">
            <a:avLst>
              <a:gd name="adj" fmla="val 1333"/>
            </a:avLst>
          </a:prstGeom>
          <a:solidFill xmlns:a="http://schemas.openxmlformats.org/drawingml/2006/main">
            <a:srgbClr val="F3F4F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2D8A1DAC-EADF-4289-85F7-26AD59BA44E0}"/>
              </a:ext>
            </a:extLst>
          </p:cNvPr>
          <p:cNvSpPr>
            <a:spLocks xmlns:a="http://schemas.openxmlformats.org/drawingml/2006/main" noGrp="1"/>
          </p:cNvSpPr>
          <p:nvPr/>
        </p:nvSpPr>
        <p:spPr>
          <a:xfrm xmlns:a="http://schemas.openxmlformats.org/drawingml/2006/main">
            <a:off x="1085850" y="4781550"/>
            <a:ext cx="4933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11827"/>
                </a:solidFill>
              </a:defRPr>
            </a:pPr>
            <a:r>
              <a:rPr sz="2100" b="1">
                <a:solidFill>
                  <a:srgbClr val="111827"/>
                </a:solidFill>
              </a:rPr>
              <a:t>Students</a:t>
            </a:r>
          </a:p>
        </p:txBody>
      </p:sp>
      <p:sp>
        <p:nvSpPr>
          <p:cNvPr id="14" name="">
            <a:extLst xmlns:a="http://schemas.openxmlformats.org/drawingml/2006/main">
              <a:ext uri="{FF2B5EF4-FFF2-40B4-BE49-F238E27FC236}">
                <a16:creationId xmlns:a16="http://schemas.microsoft.com/office/drawing/2014/main" id="{30296A4B-95DA-42E6-9DD9-E5AB57FF05D7}"/>
              </a:ext>
            </a:extLst>
          </p:cNvPr>
          <p:cNvSpPr>
            <a:spLocks xmlns:a="http://schemas.openxmlformats.org/drawingml/2006/main" noGrp="1"/>
          </p:cNvSpPr>
          <p:nvPr/>
        </p:nvSpPr>
        <p:spPr>
          <a:xfrm xmlns:a="http://schemas.openxmlformats.org/drawingml/2006/main">
            <a:off x="1085850" y="5124450"/>
            <a:ext cx="49339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4B5563"/>
                </a:solidFill>
              </a:defRPr>
            </a:pPr>
            <a:r>
              <a:rPr sz="1350">
                <a:solidFill>
                  <a:srgbClr val="4B5563"/>
                </a:solidFill>
              </a:rPr>
              <a:t>student_id, student_name</a:t>
            </a:r>
          </a:p>
        </p:txBody>
      </p:sp>
      <p:sp>
        <p:nvSpPr>
          <p:cNvPr id="15" name="entity-Membership">
            <a:extLst xmlns:a="http://schemas.openxmlformats.org/drawingml/2006/main">
              <a:ext uri="{FF2B5EF4-FFF2-40B4-BE49-F238E27FC236}">
                <a16:creationId xmlns:a16="http://schemas.microsoft.com/office/drawing/2014/main" id="{1DDD1B08-5022-4AFD-98C9-F852B14DD061}"/>
              </a:ext>
            </a:extLst>
          </p:cNvPr>
          <p:cNvSpPr>
            <a:spLocks xmlns:a="http://schemas.openxmlformats.org/drawingml/2006/main" noGrp="1"/>
          </p:cNvSpPr>
          <p:nvPr/>
        </p:nvSpPr>
        <p:spPr>
          <a:xfrm xmlns:a="http://schemas.openxmlformats.org/drawingml/2006/main">
            <a:off x="6464300" y="4610100"/>
            <a:ext cx="5359400" cy="1428750"/>
          </a:xfrm>
          <a:prstGeom xmlns:a="http://schemas.openxmlformats.org/drawingml/2006/main" prst="roundRect">
            <a:avLst>
              <a:gd name="adj" fmla="val 1333"/>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4BCB5B35-74AE-4646-ADC1-5609E64FD2FB}"/>
              </a:ext>
            </a:extLst>
          </p:cNvPr>
          <p:cNvSpPr>
            <a:spLocks xmlns:a="http://schemas.openxmlformats.org/drawingml/2006/main" noGrp="1"/>
          </p:cNvSpPr>
          <p:nvPr/>
        </p:nvSpPr>
        <p:spPr>
          <a:xfrm xmlns:a="http://schemas.openxmlformats.org/drawingml/2006/main">
            <a:off x="6667500" y="4781550"/>
            <a:ext cx="4933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11827"/>
                </a:solidFill>
              </a:defRPr>
            </a:pPr>
            <a:r>
              <a:rPr sz="2100" b="1">
                <a:solidFill>
                  <a:srgbClr val="111827"/>
                </a:solidFill>
              </a:rPr>
              <a:t>Membership</a:t>
            </a:r>
          </a:p>
        </p:txBody>
      </p:sp>
      <p:sp>
        <p:nvSpPr>
          <p:cNvPr id="17" name="">
            <a:extLst xmlns:a="http://schemas.openxmlformats.org/drawingml/2006/main">
              <a:ext uri="{FF2B5EF4-FFF2-40B4-BE49-F238E27FC236}">
                <a16:creationId xmlns:a16="http://schemas.microsoft.com/office/drawing/2014/main" id="{E361CE31-95E8-44E8-85E8-471454230CBF}"/>
              </a:ext>
            </a:extLst>
          </p:cNvPr>
          <p:cNvSpPr>
            <a:spLocks xmlns:a="http://schemas.openxmlformats.org/drawingml/2006/main" noGrp="1"/>
          </p:cNvSpPr>
          <p:nvPr/>
        </p:nvSpPr>
        <p:spPr>
          <a:xfrm xmlns:a="http://schemas.openxmlformats.org/drawingml/2006/main">
            <a:off x="6667500" y="5124450"/>
            <a:ext cx="49339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4B5563"/>
                </a:solidFill>
              </a:defRPr>
            </a:pPr>
            <a:r>
              <a:rPr sz="1350">
                <a:solidFill>
                  <a:srgbClr val="4B5563"/>
                </a:solidFill>
              </a:rPr>
              <a:t>student_id, club_name, school_year</a:t>
            </a:r>
          </a:p>
        </p:txBody>
      </p:sp>
      <p:sp>
        <p:nvSpPr>
          <p:cNvPr id="18" name="entity-Meetings">
            <a:extLst xmlns:a="http://schemas.openxmlformats.org/drawingml/2006/main">
              <a:ext uri="{FF2B5EF4-FFF2-40B4-BE49-F238E27FC236}">
                <a16:creationId xmlns:a16="http://schemas.microsoft.com/office/drawing/2014/main" id="{DB916276-2A61-4289-9309-05EA1BD005FF}"/>
              </a:ext>
            </a:extLst>
          </p:cNvPr>
          <p:cNvSpPr>
            <a:spLocks xmlns:a="http://schemas.openxmlformats.org/drawingml/2006/main" noGrp="1"/>
          </p:cNvSpPr>
          <p:nvPr/>
        </p:nvSpPr>
        <p:spPr>
          <a:xfrm xmlns:a="http://schemas.openxmlformats.org/drawingml/2006/main">
            <a:off x="12052300" y="4610100"/>
            <a:ext cx="5359400" cy="1428750"/>
          </a:xfrm>
          <a:prstGeom xmlns:a="http://schemas.openxmlformats.org/drawingml/2006/main" prst="roundRect">
            <a:avLst>
              <a:gd name="adj" fmla="val 1333"/>
            </a:avLst>
          </a:prstGeom>
          <a:solidFill xmlns:a="http://schemas.openxmlformats.org/drawingml/2006/main">
            <a:srgbClr val="EFF6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BF6B30CC-D38F-4CAF-A757-4248466884B4}"/>
              </a:ext>
            </a:extLst>
          </p:cNvPr>
          <p:cNvSpPr>
            <a:spLocks xmlns:a="http://schemas.openxmlformats.org/drawingml/2006/main" noGrp="1"/>
          </p:cNvSpPr>
          <p:nvPr/>
        </p:nvSpPr>
        <p:spPr>
          <a:xfrm xmlns:a="http://schemas.openxmlformats.org/drawingml/2006/main">
            <a:off x="12268200" y="4781550"/>
            <a:ext cx="4933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11827"/>
                </a:solidFill>
              </a:defRPr>
            </a:pPr>
            <a:r>
              <a:rPr sz="2100" b="1">
                <a:solidFill>
                  <a:srgbClr val="111827"/>
                </a:solidFill>
              </a:rPr>
              <a:t>Meetings</a:t>
            </a:r>
          </a:p>
        </p:txBody>
      </p:sp>
      <p:sp>
        <p:nvSpPr>
          <p:cNvPr id="20" name="">
            <a:extLst xmlns:a="http://schemas.openxmlformats.org/drawingml/2006/main">
              <a:ext uri="{FF2B5EF4-FFF2-40B4-BE49-F238E27FC236}">
                <a16:creationId xmlns:a16="http://schemas.microsoft.com/office/drawing/2014/main" id="{A075127D-8999-4FE1-8ED8-810F6224017C}"/>
              </a:ext>
            </a:extLst>
          </p:cNvPr>
          <p:cNvSpPr>
            <a:spLocks xmlns:a="http://schemas.openxmlformats.org/drawingml/2006/main" noGrp="1"/>
          </p:cNvSpPr>
          <p:nvPr/>
        </p:nvSpPr>
        <p:spPr>
          <a:xfrm xmlns:a="http://schemas.openxmlformats.org/drawingml/2006/main">
            <a:off x="12268200" y="5124450"/>
            <a:ext cx="49339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4B5563"/>
                </a:solidFill>
              </a:defRPr>
            </a:pPr>
            <a:r>
              <a:rPr sz="1350">
                <a:solidFill>
                  <a:srgbClr val="4B5563"/>
                </a:solidFill>
              </a:rPr>
              <a:t>date, time, classroom, description</a:t>
            </a:r>
          </a:p>
        </p:txBody>
      </p:sp>
      <p:sp>
        <p:nvSpPr>
          <p:cNvPr id="21" name="entity-FieldTrips">
            <a:extLst xmlns:a="http://schemas.openxmlformats.org/drawingml/2006/main">
              <a:ext uri="{FF2B5EF4-FFF2-40B4-BE49-F238E27FC236}">
                <a16:creationId xmlns:a16="http://schemas.microsoft.com/office/drawing/2014/main" id="{F9C86AD7-00D5-4CA5-B5D6-15F361778273}"/>
              </a:ext>
            </a:extLst>
          </p:cNvPr>
          <p:cNvSpPr>
            <a:spLocks xmlns:a="http://schemas.openxmlformats.org/drawingml/2006/main" noGrp="1"/>
          </p:cNvSpPr>
          <p:nvPr/>
        </p:nvSpPr>
        <p:spPr>
          <a:xfrm xmlns:a="http://schemas.openxmlformats.org/drawingml/2006/main">
            <a:off x="876300" y="7200900"/>
            <a:ext cx="5359400" cy="1428750"/>
          </a:xfrm>
          <a:prstGeom xmlns:a="http://schemas.openxmlformats.org/drawingml/2006/main" prst="roundRect">
            <a:avLst>
              <a:gd name="adj" fmla="val 1333"/>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1B08B5D4-7D01-410F-A302-AF63697CE278}"/>
              </a:ext>
            </a:extLst>
          </p:cNvPr>
          <p:cNvSpPr>
            <a:spLocks xmlns:a="http://schemas.openxmlformats.org/drawingml/2006/main" noGrp="1"/>
          </p:cNvSpPr>
          <p:nvPr/>
        </p:nvSpPr>
        <p:spPr>
          <a:xfrm xmlns:a="http://schemas.openxmlformats.org/drawingml/2006/main">
            <a:off x="1085850" y="7372350"/>
            <a:ext cx="4933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11827"/>
                </a:solidFill>
              </a:defRPr>
            </a:pPr>
            <a:r>
              <a:rPr sz="2100" b="1">
                <a:solidFill>
                  <a:srgbClr val="111827"/>
                </a:solidFill>
              </a:rPr>
              <a:t>FieldTrips</a:t>
            </a:r>
          </a:p>
        </p:txBody>
      </p:sp>
      <p:sp>
        <p:nvSpPr>
          <p:cNvPr id="23" name="">
            <a:extLst xmlns:a="http://schemas.openxmlformats.org/drawingml/2006/main">
              <a:ext uri="{FF2B5EF4-FFF2-40B4-BE49-F238E27FC236}">
                <a16:creationId xmlns:a16="http://schemas.microsoft.com/office/drawing/2014/main" id="{876B36CF-390A-4EE6-81D1-55FA47C3AA19}"/>
              </a:ext>
            </a:extLst>
          </p:cNvPr>
          <p:cNvSpPr>
            <a:spLocks xmlns:a="http://schemas.openxmlformats.org/drawingml/2006/main" noGrp="1"/>
          </p:cNvSpPr>
          <p:nvPr/>
        </p:nvSpPr>
        <p:spPr>
          <a:xfrm xmlns:a="http://schemas.openxmlformats.org/drawingml/2006/main">
            <a:off x="1085850" y="7715250"/>
            <a:ext cx="49339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4B5563"/>
                </a:solidFill>
              </a:defRPr>
            </a:pPr>
            <a:r>
              <a:rPr sz="1350">
                <a:solidFill>
                  <a:srgbClr val="4B5563"/>
                </a:solidFill>
              </a:rPr>
              <a:t>date, time, location, description</a:t>
            </a:r>
          </a:p>
        </p:txBody>
      </p:sp>
      <p:sp>
        <p:nvSpPr>
          <p:cNvPr id="24" name="entity-Expenses">
            <a:extLst xmlns:a="http://schemas.openxmlformats.org/drawingml/2006/main">
              <a:ext uri="{FF2B5EF4-FFF2-40B4-BE49-F238E27FC236}">
                <a16:creationId xmlns:a16="http://schemas.microsoft.com/office/drawing/2014/main" id="{E739C3AC-C79E-4656-A63F-0A38E98D6BF2}"/>
              </a:ext>
            </a:extLst>
          </p:cNvPr>
          <p:cNvSpPr>
            <a:spLocks xmlns:a="http://schemas.openxmlformats.org/drawingml/2006/main" noGrp="1"/>
          </p:cNvSpPr>
          <p:nvPr/>
        </p:nvSpPr>
        <p:spPr>
          <a:xfrm xmlns:a="http://schemas.openxmlformats.org/drawingml/2006/main">
            <a:off x="6464300" y="7200900"/>
            <a:ext cx="5359400" cy="1428750"/>
          </a:xfrm>
          <a:prstGeom xmlns:a="http://schemas.openxmlformats.org/drawingml/2006/main" prst="roundRect">
            <a:avLst>
              <a:gd name="adj" fmla="val 1333"/>
            </a:avLst>
          </a:prstGeom>
          <a:solidFill xmlns:a="http://schemas.openxmlformats.org/drawingml/2006/main">
            <a:srgbClr val="FFFFFF"/>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D0CCA136-2FE7-4E65-A373-A8618A476BB0}"/>
              </a:ext>
            </a:extLst>
          </p:cNvPr>
          <p:cNvSpPr>
            <a:spLocks xmlns:a="http://schemas.openxmlformats.org/drawingml/2006/main" noGrp="1"/>
          </p:cNvSpPr>
          <p:nvPr/>
        </p:nvSpPr>
        <p:spPr>
          <a:xfrm xmlns:a="http://schemas.openxmlformats.org/drawingml/2006/main">
            <a:off x="6667500" y="7372350"/>
            <a:ext cx="4933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11827"/>
                </a:solidFill>
              </a:defRPr>
            </a:pPr>
            <a:r>
              <a:rPr sz="2100" b="1">
                <a:solidFill>
                  <a:srgbClr val="111827"/>
                </a:solidFill>
              </a:rPr>
              <a:t>Expenses</a:t>
            </a:r>
          </a:p>
        </p:txBody>
      </p:sp>
      <p:sp>
        <p:nvSpPr>
          <p:cNvPr id="26" name="">
            <a:extLst xmlns:a="http://schemas.openxmlformats.org/drawingml/2006/main">
              <a:ext uri="{FF2B5EF4-FFF2-40B4-BE49-F238E27FC236}">
                <a16:creationId xmlns:a16="http://schemas.microsoft.com/office/drawing/2014/main" id="{0D5A0431-31F9-4877-900C-42E5421A3B45}"/>
              </a:ext>
            </a:extLst>
          </p:cNvPr>
          <p:cNvSpPr>
            <a:spLocks xmlns:a="http://schemas.openxmlformats.org/drawingml/2006/main" noGrp="1"/>
          </p:cNvSpPr>
          <p:nvPr/>
        </p:nvSpPr>
        <p:spPr>
          <a:xfrm xmlns:a="http://schemas.openxmlformats.org/drawingml/2006/main">
            <a:off x="6667500" y="7715250"/>
            <a:ext cx="49339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4B5563"/>
                </a:solidFill>
              </a:defRPr>
            </a:pPr>
            <a:r>
              <a:rPr sz="1350">
                <a:solidFill>
                  <a:srgbClr val="4B5563"/>
                </a:solidFill>
              </a:rPr>
              <a:t>date, amount, description</a:t>
            </a:r>
          </a:p>
        </p:txBody>
      </p:sp>
      <p:sp>
        <p:nvSpPr>
          <p:cNvPr id="27" name="">
            <a:extLst xmlns:a="http://schemas.openxmlformats.org/drawingml/2006/main">
              <a:ext uri="{FF2B5EF4-FFF2-40B4-BE49-F238E27FC236}">
                <a16:creationId xmlns:a16="http://schemas.microsoft.com/office/drawing/2014/main" id="{E46691AF-38D8-44D7-BF97-D46BC97219F8}"/>
              </a:ext>
            </a:extLst>
          </p:cNvPr>
          <p:cNvSpPr>
            <a:spLocks xmlns:a="http://schemas.openxmlformats.org/drawingml/2006/main" noGrp="1"/>
          </p:cNvSpPr>
          <p:nvPr/>
        </p:nvSpPr>
        <p:spPr>
          <a:xfrm xmlns:a="http://schemas.openxmlformats.org/drawingml/2006/main">
            <a:off x="12058650" y="7200900"/>
            <a:ext cx="5353050" cy="2381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1E3A8A"/>
                </a:solidFill>
              </a:defRPr>
            </a:pPr>
            <a:r>
              <a:rPr sz="2175" b="1">
                <a:solidFill>
                  <a:srgbClr val="1E3A8A"/>
                </a:solidFill>
              </a:rPr>
              <a:t>Design idea: permanent club data is separate from yearly club data.</a:t>
            </a:r>
          </a:p>
        </p:txBody>
      </p:sp>
    </p:spTree>
    <p:extLst>
      <p:ext uri="{BB962C8B-B14F-4D97-AF65-F5344CB8AC3E}">
        <p14:creationId xmlns:p14="http://schemas.microsoft.com/office/powerpoint/2010/main" val="14422591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9B51F9C3-9EF4-4B54-96F2-EF47FCB3D030}"/>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SQL Implementation</a:t>
            </a:r>
          </a:p>
        </p:txBody>
      </p:sp>
      <p:sp>
        <p:nvSpPr>
          <p:cNvPr id="2" name="slide-subtitle">
            <a:extLst xmlns:a="http://schemas.openxmlformats.org/drawingml/2006/main">
              <a:ext uri="{FF2B5EF4-FFF2-40B4-BE49-F238E27FC236}">
                <a16:creationId xmlns:a16="http://schemas.microsoft.com/office/drawing/2014/main" id="{0F188007-BA27-46E6-8CA9-77B095E10246}"/>
              </a:ext>
            </a:extLst>
          </p:cNvPr>
          <p:cNvSpPr>
            <a:spLocks xmlns:a="http://schemas.openxmlformats.org/drawingml/2006/main" noGrp="1"/>
          </p:cNvSpPr>
          <p:nvPr/>
        </p:nvSpPr>
        <p:spPr>
          <a:xfrm xmlns:a="http://schemas.openxmlformats.org/drawingml/2006/main">
            <a:off x="876300" y="1390650"/>
            <a:ext cx="93726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The script creates the database, tables, keys, constraints, and sample records.</a:t>
            </a:r>
          </a:p>
        </p:txBody>
      </p:sp>
      <p:sp>
        <p:nvSpPr>
          <p:cNvPr id="3" name="dot-1">
            <a:extLst xmlns:a="http://schemas.openxmlformats.org/drawingml/2006/main">
              <a:ext uri="{FF2B5EF4-FFF2-40B4-BE49-F238E27FC236}">
                <a16:creationId xmlns:a16="http://schemas.microsoft.com/office/drawing/2014/main" id="{6A188C91-7FF9-42C0-8988-0869DDCDEF77}"/>
              </a:ext>
            </a:extLst>
          </p:cNvPr>
          <p:cNvSpPr>
            <a:spLocks xmlns:a="http://schemas.openxmlformats.org/drawingml/2006/main" noGrp="1"/>
          </p:cNvSpPr>
          <p:nvPr/>
        </p:nvSpPr>
        <p:spPr>
          <a:xfrm xmlns:a="http://schemas.openxmlformats.org/drawingml/2006/main">
            <a:off x="876300" y="23622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4" name="bullet-text-1">
            <a:extLst xmlns:a="http://schemas.openxmlformats.org/drawingml/2006/main">
              <a:ext uri="{FF2B5EF4-FFF2-40B4-BE49-F238E27FC236}">
                <a16:creationId xmlns:a16="http://schemas.microsoft.com/office/drawing/2014/main" id="{6D453BB9-8B33-43B3-8ED1-13DF6585B6C2}"/>
              </a:ext>
            </a:extLst>
          </p:cNvPr>
          <p:cNvSpPr>
            <a:spLocks xmlns:a="http://schemas.openxmlformats.org/drawingml/2006/main" noGrp="1"/>
          </p:cNvSpPr>
          <p:nvPr/>
        </p:nvSpPr>
        <p:spPr>
          <a:xfrm xmlns:a="http://schemas.openxmlformats.org/drawingml/2006/main">
            <a:off x="1143000" y="2362200"/>
            <a:ext cx="79438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Primary keys identify every club, student, faculty member, and yearly record.</a:t>
            </a:r>
          </a:p>
        </p:txBody>
      </p:sp>
      <p:sp>
        <p:nvSpPr>
          <p:cNvPr id="5" name="dot-2">
            <a:extLst xmlns:a="http://schemas.openxmlformats.org/drawingml/2006/main">
              <a:ext uri="{FF2B5EF4-FFF2-40B4-BE49-F238E27FC236}">
                <a16:creationId xmlns:a16="http://schemas.microsoft.com/office/drawing/2014/main" id="{09715E00-9960-4EA6-841B-EDBF63F63E12}"/>
              </a:ext>
            </a:extLst>
          </p:cNvPr>
          <p:cNvSpPr>
            <a:spLocks xmlns:a="http://schemas.openxmlformats.org/drawingml/2006/main" noGrp="1"/>
          </p:cNvSpPr>
          <p:nvPr/>
        </p:nvSpPr>
        <p:spPr>
          <a:xfrm xmlns:a="http://schemas.openxmlformats.org/drawingml/2006/main">
            <a:off x="876300" y="30289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6" name="bullet-text-2">
            <a:extLst xmlns:a="http://schemas.openxmlformats.org/drawingml/2006/main">
              <a:ext uri="{FF2B5EF4-FFF2-40B4-BE49-F238E27FC236}">
                <a16:creationId xmlns:a16="http://schemas.microsoft.com/office/drawing/2014/main" id="{02DB016D-5BF7-445D-AD3E-DF3DAF667D16}"/>
              </a:ext>
            </a:extLst>
          </p:cNvPr>
          <p:cNvSpPr>
            <a:spLocks xmlns:a="http://schemas.openxmlformats.org/drawingml/2006/main" noGrp="1"/>
          </p:cNvSpPr>
          <p:nvPr/>
        </p:nvSpPr>
        <p:spPr>
          <a:xfrm xmlns:a="http://schemas.openxmlformats.org/drawingml/2006/main">
            <a:off x="1143000" y="3028950"/>
            <a:ext cx="79438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Foreign keys connect memberships, meetings, trips, and expenses to valid clubs.</a:t>
            </a:r>
          </a:p>
        </p:txBody>
      </p:sp>
      <p:sp>
        <p:nvSpPr>
          <p:cNvPr id="7" name="dot-3">
            <a:extLst xmlns:a="http://schemas.openxmlformats.org/drawingml/2006/main">
              <a:ext uri="{FF2B5EF4-FFF2-40B4-BE49-F238E27FC236}">
                <a16:creationId xmlns:a16="http://schemas.microsoft.com/office/drawing/2014/main" id="{83240781-0247-435C-967F-DAAB27C6B427}"/>
              </a:ext>
            </a:extLst>
          </p:cNvPr>
          <p:cNvSpPr>
            <a:spLocks xmlns:a="http://schemas.openxmlformats.org/drawingml/2006/main" noGrp="1"/>
          </p:cNvSpPr>
          <p:nvPr/>
        </p:nvSpPr>
        <p:spPr>
          <a:xfrm xmlns:a="http://schemas.openxmlformats.org/drawingml/2006/main">
            <a:off x="876300" y="36957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8" name="bullet-text-3">
            <a:extLst xmlns:a="http://schemas.openxmlformats.org/drawingml/2006/main">
              <a:ext uri="{FF2B5EF4-FFF2-40B4-BE49-F238E27FC236}">
                <a16:creationId xmlns:a16="http://schemas.microsoft.com/office/drawing/2014/main" id="{BD32F98C-5F18-4409-BCA5-75DD3517FF83}"/>
              </a:ext>
            </a:extLst>
          </p:cNvPr>
          <p:cNvSpPr>
            <a:spLocks xmlns:a="http://schemas.openxmlformats.org/drawingml/2006/main" noGrp="1"/>
          </p:cNvSpPr>
          <p:nvPr/>
        </p:nvSpPr>
        <p:spPr>
          <a:xfrm xmlns:a="http://schemas.openxmlformats.org/drawingml/2006/main">
            <a:off x="1143000" y="3695700"/>
            <a:ext cx="79438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Check constraints prevent negative budgets, non-positive expenses, and invalid times.</a:t>
            </a:r>
          </a:p>
        </p:txBody>
      </p:sp>
      <p:sp>
        <p:nvSpPr>
          <p:cNvPr id="9" name="dot-4">
            <a:extLst xmlns:a="http://schemas.openxmlformats.org/drawingml/2006/main">
              <a:ext uri="{FF2B5EF4-FFF2-40B4-BE49-F238E27FC236}">
                <a16:creationId xmlns:a16="http://schemas.microsoft.com/office/drawing/2014/main" id="{BE00C4F0-7C74-4EEE-B9A4-558F2C6EE94A}"/>
              </a:ext>
            </a:extLst>
          </p:cNvPr>
          <p:cNvSpPr>
            <a:spLocks xmlns:a="http://schemas.openxmlformats.org/drawingml/2006/main" noGrp="1"/>
          </p:cNvSpPr>
          <p:nvPr/>
        </p:nvSpPr>
        <p:spPr>
          <a:xfrm xmlns:a="http://schemas.openxmlformats.org/drawingml/2006/main">
            <a:off x="876300" y="43624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0" name="bullet-text-4">
            <a:extLst xmlns:a="http://schemas.openxmlformats.org/drawingml/2006/main">
              <a:ext uri="{FF2B5EF4-FFF2-40B4-BE49-F238E27FC236}">
                <a16:creationId xmlns:a16="http://schemas.microsoft.com/office/drawing/2014/main" id="{5CF081B0-DE43-44BD-A563-1218BB91BC12}"/>
              </a:ext>
            </a:extLst>
          </p:cNvPr>
          <p:cNvSpPr>
            <a:spLocks xmlns:a="http://schemas.openxmlformats.org/drawingml/2006/main" noGrp="1"/>
          </p:cNvSpPr>
          <p:nvPr/>
        </p:nvSpPr>
        <p:spPr>
          <a:xfrm xmlns:a="http://schemas.openxmlformats.org/drawingml/2006/main">
            <a:off x="1143000" y="4362450"/>
            <a:ext cx="79438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Sample data includes multiple clubs, students, faculty, meetings, trips, and expenses.</a:t>
            </a:r>
          </a:p>
        </p:txBody>
      </p:sp>
      <p:sp>
        <p:nvSpPr>
          <p:cNvPr id="11" name="label-Core tables">
            <a:extLst xmlns:a="http://schemas.openxmlformats.org/drawingml/2006/main">
              <a:ext uri="{FF2B5EF4-FFF2-40B4-BE49-F238E27FC236}">
                <a16:creationId xmlns:a16="http://schemas.microsoft.com/office/drawing/2014/main" id="{D31878E9-EE7F-4435-A2F0-77419C42A05F}"/>
              </a:ext>
            </a:extLst>
          </p:cNvPr>
          <p:cNvSpPr>
            <a:spLocks xmlns:a="http://schemas.openxmlformats.org/drawingml/2006/main" noGrp="1"/>
          </p:cNvSpPr>
          <p:nvPr/>
        </p:nvSpPr>
        <p:spPr>
          <a:xfrm xmlns:a="http://schemas.openxmlformats.org/drawingml/2006/main">
            <a:off x="9596554" y="2362200"/>
            <a:ext cx="7815146" cy="1162050"/>
          </a:xfrm>
          <a:prstGeom xmlns:a="http://schemas.openxmlformats.org/drawingml/2006/main" prst="roundRect">
            <a:avLst>
              <a:gd name="adj" fmla="val 1639"/>
            </a:avLst>
          </a:prstGeom>
          <a:solidFill xmlns:a="http://schemas.openxmlformats.org/drawingml/2006/main">
            <a:srgbClr val="EFF6FF"/>
          </a:solidFill>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DFEFA2CF-7DC4-4849-AD91-36D88D276A2E}"/>
              </a:ext>
            </a:extLst>
          </p:cNvPr>
          <p:cNvSpPr>
            <a:spLocks xmlns:a="http://schemas.openxmlformats.org/drawingml/2006/main" noGrp="1"/>
          </p:cNvSpPr>
          <p:nvPr/>
        </p:nvSpPr>
        <p:spPr>
          <a:xfrm xmlns:a="http://schemas.openxmlformats.org/drawingml/2006/main">
            <a:off x="9829800" y="2552700"/>
            <a:ext cx="73533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4B5563"/>
                </a:solidFill>
              </a:defRPr>
            </a:pPr>
            <a:r>
              <a:rPr sz="1425" b="1">
                <a:solidFill>
                  <a:srgbClr val="4B5563"/>
                </a:solidFill>
              </a:rPr>
              <a:t>Core tables</a:t>
            </a:r>
          </a:p>
        </p:txBody>
      </p:sp>
      <p:sp>
        <p:nvSpPr>
          <p:cNvPr id="13" name="">
            <a:extLst xmlns:a="http://schemas.openxmlformats.org/drawingml/2006/main">
              <a:ext uri="{FF2B5EF4-FFF2-40B4-BE49-F238E27FC236}">
                <a16:creationId xmlns:a16="http://schemas.microsoft.com/office/drawing/2014/main" id="{AAD5ADF5-0058-452C-A480-9A7B01B1218C}"/>
              </a:ext>
            </a:extLst>
          </p:cNvPr>
          <p:cNvSpPr>
            <a:spLocks xmlns:a="http://schemas.openxmlformats.org/drawingml/2006/main" noGrp="1"/>
          </p:cNvSpPr>
          <p:nvPr/>
        </p:nvSpPr>
        <p:spPr>
          <a:xfrm xmlns:a="http://schemas.openxmlformats.org/drawingml/2006/main">
            <a:off x="9829800" y="2838450"/>
            <a:ext cx="7353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11827"/>
                </a:solidFill>
              </a:defRPr>
            </a:pPr>
            <a:r>
              <a:rPr sz="2250" b="1">
                <a:solidFill>
                  <a:srgbClr val="111827"/>
                </a:solidFill>
              </a:rPr>
              <a:t>Clubs, Faculty, Students</a:t>
            </a:r>
          </a:p>
        </p:txBody>
      </p:sp>
      <p:sp>
        <p:nvSpPr>
          <p:cNvPr id="14" name="label-Yearly data">
            <a:extLst xmlns:a="http://schemas.openxmlformats.org/drawingml/2006/main">
              <a:ext uri="{FF2B5EF4-FFF2-40B4-BE49-F238E27FC236}">
                <a16:creationId xmlns:a16="http://schemas.microsoft.com/office/drawing/2014/main" id="{396B4FAB-5BEB-4FB4-A356-260A67FC9545}"/>
              </a:ext>
            </a:extLst>
          </p:cNvPr>
          <p:cNvSpPr>
            <a:spLocks xmlns:a="http://schemas.openxmlformats.org/drawingml/2006/main" noGrp="1"/>
          </p:cNvSpPr>
          <p:nvPr/>
        </p:nvSpPr>
        <p:spPr>
          <a:xfrm xmlns:a="http://schemas.openxmlformats.org/drawingml/2006/main">
            <a:off x="9596554" y="3676650"/>
            <a:ext cx="7815146" cy="1162050"/>
          </a:xfrm>
          <a:prstGeom xmlns:a="http://schemas.openxmlformats.org/drawingml/2006/main" prst="roundRect">
            <a:avLst>
              <a:gd name="adj" fmla="val 1639"/>
            </a:avLst>
          </a:prstGeom>
          <a:solidFill xmlns:a="http://schemas.openxmlformats.org/drawingml/2006/main">
            <a:srgbClr val="FFF7ED"/>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6F8D9478-F89C-4E5E-B65C-CCABFBC56AFC}"/>
              </a:ext>
            </a:extLst>
          </p:cNvPr>
          <p:cNvSpPr>
            <a:spLocks xmlns:a="http://schemas.openxmlformats.org/drawingml/2006/main" noGrp="1"/>
          </p:cNvSpPr>
          <p:nvPr/>
        </p:nvSpPr>
        <p:spPr>
          <a:xfrm xmlns:a="http://schemas.openxmlformats.org/drawingml/2006/main">
            <a:off x="9829800" y="3867150"/>
            <a:ext cx="73533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4B5563"/>
                </a:solidFill>
              </a:defRPr>
            </a:pPr>
            <a:r>
              <a:rPr sz="1425" b="1">
                <a:solidFill>
                  <a:srgbClr val="4B5563"/>
                </a:solidFill>
              </a:rPr>
              <a:t>Yearly data</a:t>
            </a:r>
          </a:p>
        </p:txBody>
      </p:sp>
      <p:sp>
        <p:nvSpPr>
          <p:cNvPr id="16" name="">
            <a:extLst xmlns:a="http://schemas.openxmlformats.org/drawingml/2006/main">
              <a:ext uri="{FF2B5EF4-FFF2-40B4-BE49-F238E27FC236}">
                <a16:creationId xmlns:a16="http://schemas.microsoft.com/office/drawing/2014/main" id="{9B16F921-640F-44F4-A011-99BB1F35B7C0}"/>
              </a:ext>
            </a:extLst>
          </p:cNvPr>
          <p:cNvSpPr>
            <a:spLocks xmlns:a="http://schemas.openxmlformats.org/drawingml/2006/main" noGrp="1"/>
          </p:cNvSpPr>
          <p:nvPr/>
        </p:nvSpPr>
        <p:spPr>
          <a:xfrm xmlns:a="http://schemas.openxmlformats.org/drawingml/2006/main">
            <a:off x="9829800" y="4152900"/>
            <a:ext cx="7353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11827"/>
                </a:solidFill>
              </a:defRPr>
            </a:pPr>
            <a:r>
              <a:rPr sz="2250" b="1">
                <a:solidFill>
                  <a:srgbClr val="111827"/>
                </a:solidFill>
              </a:rPr>
              <a:t>YearlyClubs, Membership</a:t>
            </a:r>
          </a:p>
        </p:txBody>
      </p:sp>
      <p:sp>
        <p:nvSpPr>
          <p:cNvPr id="17" name="label-Activity data">
            <a:extLst xmlns:a="http://schemas.openxmlformats.org/drawingml/2006/main">
              <a:ext uri="{FF2B5EF4-FFF2-40B4-BE49-F238E27FC236}">
                <a16:creationId xmlns:a16="http://schemas.microsoft.com/office/drawing/2014/main" id="{523DFB39-1494-4429-AC11-409AFBCDCDCA}"/>
              </a:ext>
            </a:extLst>
          </p:cNvPr>
          <p:cNvSpPr>
            <a:spLocks xmlns:a="http://schemas.openxmlformats.org/drawingml/2006/main" noGrp="1"/>
          </p:cNvSpPr>
          <p:nvPr/>
        </p:nvSpPr>
        <p:spPr>
          <a:xfrm xmlns:a="http://schemas.openxmlformats.org/drawingml/2006/main">
            <a:off x="9596554" y="4991100"/>
            <a:ext cx="7815146" cy="1162050"/>
          </a:xfrm>
          <a:prstGeom xmlns:a="http://schemas.openxmlformats.org/drawingml/2006/main" prst="roundRect">
            <a:avLst>
              <a:gd name="adj" fmla="val 1639"/>
            </a:avLst>
          </a:prstGeom>
          <a:solidFill xmlns:a="http://schemas.openxmlformats.org/drawingml/2006/main">
            <a:srgbClr val="F3F4F6"/>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8D97FBD2-4E78-47C5-8C1D-6A0A9FBCDC98}"/>
              </a:ext>
            </a:extLst>
          </p:cNvPr>
          <p:cNvSpPr>
            <a:spLocks xmlns:a="http://schemas.openxmlformats.org/drawingml/2006/main" noGrp="1"/>
          </p:cNvSpPr>
          <p:nvPr/>
        </p:nvSpPr>
        <p:spPr>
          <a:xfrm xmlns:a="http://schemas.openxmlformats.org/drawingml/2006/main">
            <a:off x="9829800" y="5181600"/>
            <a:ext cx="73533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4B5563"/>
                </a:solidFill>
              </a:defRPr>
            </a:pPr>
            <a:r>
              <a:rPr sz="1425" b="1">
                <a:solidFill>
                  <a:srgbClr val="4B5563"/>
                </a:solidFill>
              </a:rPr>
              <a:t>Activity data</a:t>
            </a:r>
          </a:p>
        </p:txBody>
      </p:sp>
      <p:sp>
        <p:nvSpPr>
          <p:cNvPr id="19" name="">
            <a:extLst xmlns:a="http://schemas.openxmlformats.org/drawingml/2006/main">
              <a:ext uri="{FF2B5EF4-FFF2-40B4-BE49-F238E27FC236}">
                <a16:creationId xmlns:a16="http://schemas.microsoft.com/office/drawing/2014/main" id="{EB305268-7AC0-4037-AC83-78D31C2C2458}"/>
              </a:ext>
            </a:extLst>
          </p:cNvPr>
          <p:cNvSpPr>
            <a:spLocks xmlns:a="http://schemas.openxmlformats.org/drawingml/2006/main" noGrp="1"/>
          </p:cNvSpPr>
          <p:nvPr/>
        </p:nvSpPr>
        <p:spPr>
          <a:xfrm xmlns:a="http://schemas.openxmlformats.org/drawingml/2006/main">
            <a:off x="9829800" y="5467350"/>
            <a:ext cx="7353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11827"/>
                </a:solidFill>
              </a:defRPr>
            </a:pPr>
            <a:r>
              <a:rPr sz="2250" b="1">
                <a:solidFill>
                  <a:srgbClr val="111827"/>
                </a:solidFill>
              </a:rPr>
              <a:t>Meetings, FieldTrips, Expenses</a:t>
            </a:r>
          </a:p>
        </p:txBody>
      </p:sp>
    </p:spTree>
    <p:extLst>
      <p:ext uri="{BB962C8B-B14F-4D97-AF65-F5344CB8AC3E}">
        <p14:creationId xmlns:p14="http://schemas.microsoft.com/office/powerpoint/2010/main" val="19924233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B439AF55-A13E-45F5-A97F-587EA727466A}"/>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Python Application</a:t>
            </a:r>
          </a:p>
        </p:txBody>
      </p:sp>
      <p:sp>
        <p:nvSpPr>
          <p:cNvPr id="2" name="slide-subtitle">
            <a:extLst xmlns:a="http://schemas.openxmlformats.org/drawingml/2006/main">
              <a:ext uri="{FF2B5EF4-FFF2-40B4-BE49-F238E27FC236}">
                <a16:creationId xmlns:a16="http://schemas.microsoft.com/office/drawing/2014/main" id="{C382EC7C-9F9D-4C50-9F8D-CB83D46573AA}"/>
              </a:ext>
            </a:extLst>
          </p:cNvPr>
          <p:cNvSpPr>
            <a:spLocks xmlns:a="http://schemas.openxmlformats.org/drawingml/2006/main" noGrp="1"/>
          </p:cNvSpPr>
          <p:nvPr/>
        </p:nvSpPr>
        <p:spPr>
          <a:xfrm xmlns:a="http://schemas.openxmlformats.org/drawingml/2006/main">
            <a:off x="876300" y="1390650"/>
            <a:ext cx="95250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The app is a simple command-line menu that sends SQL commands to MySQL.</a:t>
            </a:r>
          </a:p>
        </p:txBody>
      </p:sp>
      <p:sp>
        <p:nvSpPr>
          <p:cNvPr id="3" name="">
            <a:extLst xmlns:a="http://schemas.openxmlformats.org/drawingml/2006/main">
              <a:ext uri="{FF2B5EF4-FFF2-40B4-BE49-F238E27FC236}">
                <a16:creationId xmlns:a16="http://schemas.microsoft.com/office/drawing/2014/main" id="{A52FB0C2-ACC4-4398-AE38-DC7CFA84CA16}"/>
              </a:ext>
            </a:extLst>
          </p:cNvPr>
          <p:cNvSpPr>
            <a:spLocks xmlns:a="http://schemas.openxmlformats.org/drawingml/2006/main" noGrp="1"/>
          </p:cNvSpPr>
          <p:nvPr/>
        </p:nvSpPr>
        <p:spPr>
          <a:xfrm xmlns:a="http://schemas.openxmlformats.org/drawingml/2006/main">
            <a:off x="876300" y="2324100"/>
            <a:ext cx="8039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1E3A8A"/>
                </a:solidFill>
              </a:defRPr>
            </a:pPr>
            <a:r>
              <a:rPr sz="2850" b="1">
                <a:solidFill>
                  <a:srgbClr val="1E3A8A"/>
                </a:solidFill>
              </a:rPr>
              <a:t>Basic flow</a:t>
            </a:r>
          </a:p>
        </p:txBody>
      </p:sp>
      <p:sp>
        <p:nvSpPr>
          <p:cNvPr id="4" name="dot-1">
            <a:extLst xmlns:a="http://schemas.openxmlformats.org/drawingml/2006/main">
              <a:ext uri="{FF2B5EF4-FFF2-40B4-BE49-F238E27FC236}">
                <a16:creationId xmlns:a16="http://schemas.microsoft.com/office/drawing/2014/main" id="{A558EB8A-2A96-4596-AF61-349C1FF157C4}"/>
              </a:ext>
            </a:extLst>
          </p:cNvPr>
          <p:cNvSpPr>
            <a:spLocks xmlns:a="http://schemas.openxmlformats.org/drawingml/2006/main" noGrp="1"/>
          </p:cNvSpPr>
          <p:nvPr/>
        </p:nvSpPr>
        <p:spPr>
          <a:xfrm xmlns:a="http://schemas.openxmlformats.org/drawingml/2006/main">
            <a:off x="876300" y="28384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 name="bullet-text-1">
            <a:extLst xmlns:a="http://schemas.openxmlformats.org/drawingml/2006/main">
              <a:ext uri="{FF2B5EF4-FFF2-40B4-BE49-F238E27FC236}">
                <a16:creationId xmlns:a16="http://schemas.microsoft.com/office/drawing/2014/main" id="{36F45B31-6390-47C3-BE40-D7492891E88C}"/>
              </a:ext>
            </a:extLst>
          </p:cNvPr>
          <p:cNvSpPr>
            <a:spLocks xmlns:a="http://schemas.openxmlformats.org/drawingml/2006/main" noGrp="1"/>
          </p:cNvSpPr>
          <p:nvPr/>
        </p:nvSpPr>
        <p:spPr>
          <a:xfrm xmlns:a="http://schemas.openxmlformats.org/drawingml/2006/main">
            <a:off x="1143000" y="2838450"/>
            <a:ext cx="7772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User chooses a menu option.</a:t>
            </a:r>
          </a:p>
        </p:txBody>
      </p:sp>
      <p:sp>
        <p:nvSpPr>
          <p:cNvPr id="6" name="dot-2">
            <a:extLst xmlns:a="http://schemas.openxmlformats.org/drawingml/2006/main">
              <a:ext uri="{FF2B5EF4-FFF2-40B4-BE49-F238E27FC236}">
                <a16:creationId xmlns:a16="http://schemas.microsoft.com/office/drawing/2014/main" id="{FC50B392-A745-4DC1-B327-338EF330EDFE}"/>
              </a:ext>
            </a:extLst>
          </p:cNvPr>
          <p:cNvSpPr>
            <a:spLocks xmlns:a="http://schemas.openxmlformats.org/drawingml/2006/main" noGrp="1"/>
          </p:cNvSpPr>
          <p:nvPr/>
        </p:nvSpPr>
        <p:spPr>
          <a:xfrm xmlns:a="http://schemas.openxmlformats.org/drawingml/2006/main">
            <a:off x="876300" y="32575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 name="bullet-text-2">
            <a:extLst xmlns:a="http://schemas.openxmlformats.org/drawingml/2006/main">
              <a:ext uri="{FF2B5EF4-FFF2-40B4-BE49-F238E27FC236}">
                <a16:creationId xmlns:a16="http://schemas.microsoft.com/office/drawing/2014/main" id="{C3CE858A-27F9-43BE-8C1E-66EF72CABCD7}"/>
              </a:ext>
            </a:extLst>
          </p:cNvPr>
          <p:cNvSpPr>
            <a:spLocks xmlns:a="http://schemas.openxmlformats.org/drawingml/2006/main" noGrp="1"/>
          </p:cNvSpPr>
          <p:nvPr/>
        </p:nvSpPr>
        <p:spPr>
          <a:xfrm xmlns:a="http://schemas.openxmlformats.org/drawingml/2006/main">
            <a:off x="1143000" y="3257550"/>
            <a:ext cx="7772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Program asks for needed values.</a:t>
            </a:r>
          </a:p>
        </p:txBody>
      </p:sp>
      <p:sp>
        <p:nvSpPr>
          <p:cNvPr id="8" name="dot-3">
            <a:extLst xmlns:a="http://schemas.openxmlformats.org/drawingml/2006/main">
              <a:ext uri="{FF2B5EF4-FFF2-40B4-BE49-F238E27FC236}">
                <a16:creationId xmlns:a16="http://schemas.microsoft.com/office/drawing/2014/main" id="{27AF58D7-A862-4408-8D13-3BA1EC40F5D2}"/>
              </a:ext>
            </a:extLst>
          </p:cNvPr>
          <p:cNvSpPr>
            <a:spLocks xmlns:a="http://schemas.openxmlformats.org/drawingml/2006/main" noGrp="1"/>
          </p:cNvSpPr>
          <p:nvPr/>
        </p:nvSpPr>
        <p:spPr>
          <a:xfrm xmlns:a="http://schemas.openxmlformats.org/drawingml/2006/main">
            <a:off x="876300" y="36766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9" name="bullet-text-3">
            <a:extLst xmlns:a="http://schemas.openxmlformats.org/drawingml/2006/main">
              <a:ext uri="{FF2B5EF4-FFF2-40B4-BE49-F238E27FC236}">
                <a16:creationId xmlns:a16="http://schemas.microsoft.com/office/drawing/2014/main" id="{D034AB76-409C-41EE-B483-65EAB46C5754}"/>
              </a:ext>
            </a:extLst>
          </p:cNvPr>
          <p:cNvSpPr>
            <a:spLocks xmlns:a="http://schemas.openxmlformats.org/drawingml/2006/main" noGrp="1"/>
          </p:cNvSpPr>
          <p:nvPr/>
        </p:nvSpPr>
        <p:spPr>
          <a:xfrm xmlns:a="http://schemas.openxmlformats.org/drawingml/2006/main">
            <a:off x="1143000" y="3676650"/>
            <a:ext cx="7772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Python runs an SQL query.</a:t>
            </a:r>
          </a:p>
        </p:txBody>
      </p:sp>
      <p:sp>
        <p:nvSpPr>
          <p:cNvPr id="10" name="dot-4">
            <a:extLst xmlns:a="http://schemas.openxmlformats.org/drawingml/2006/main">
              <a:ext uri="{FF2B5EF4-FFF2-40B4-BE49-F238E27FC236}">
                <a16:creationId xmlns:a16="http://schemas.microsoft.com/office/drawing/2014/main" id="{69C7DA69-0B08-4440-B49F-C9D946D2BB69}"/>
              </a:ext>
            </a:extLst>
          </p:cNvPr>
          <p:cNvSpPr>
            <a:spLocks xmlns:a="http://schemas.openxmlformats.org/drawingml/2006/main" noGrp="1"/>
          </p:cNvSpPr>
          <p:nvPr/>
        </p:nvSpPr>
        <p:spPr>
          <a:xfrm xmlns:a="http://schemas.openxmlformats.org/drawingml/2006/main">
            <a:off x="876300" y="40957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1" name="bullet-text-4">
            <a:extLst xmlns:a="http://schemas.openxmlformats.org/drawingml/2006/main">
              <a:ext uri="{FF2B5EF4-FFF2-40B4-BE49-F238E27FC236}">
                <a16:creationId xmlns:a16="http://schemas.microsoft.com/office/drawing/2014/main" id="{278B0C57-31BA-4B18-AB6B-14362D8A487A}"/>
              </a:ext>
            </a:extLst>
          </p:cNvPr>
          <p:cNvSpPr>
            <a:spLocks xmlns:a="http://schemas.openxmlformats.org/drawingml/2006/main" noGrp="1"/>
          </p:cNvSpPr>
          <p:nvPr/>
        </p:nvSpPr>
        <p:spPr>
          <a:xfrm xmlns:a="http://schemas.openxmlformats.org/drawingml/2006/main">
            <a:off x="1143000" y="4095750"/>
            <a:ext cx="7772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MySQL returns results or saves the change.</a:t>
            </a:r>
          </a:p>
        </p:txBody>
      </p:sp>
      <p:sp>
        <p:nvSpPr>
          <p:cNvPr id="12" name="menu-sample">
            <a:extLst xmlns:a="http://schemas.openxmlformats.org/drawingml/2006/main">
              <a:ext uri="{FF2B5EF4-FFF2-40B4-BE49-F238E27FC236}">
                <a16:creationId xmlns:a16="http://schemas.microsoft.com/office/drawing/2014/main" id="{3E592984-EF35-43B8-BA6A-6580B58C8A57}"/>
              </a:ext>
            </a:extLst>
          </p:cNvPr>
          <p:cNvSpPr>
            <a:spLocks xmlns:a="http://schemas.openxmlformats.org/drawingml/2006/main" noGrp="1"/>
          </p:cNvSpPr>
          <p:nvPr/>
        </p:nvSpPr>
        <p:spPr>
          <a:xfrm xmlns:a="http://schemas.openxmlformats.org/drawingml/2006/main">
            <a:off x="9372600" y="2324100"/>
            <a:ext cx="8039100" cy="7258050"/>
          </a:xfrm>
          <a:prstGeom xmlns:a="http://schemas.openxmlformats.org/drawingml/2006/main" prst="roundRect">
            <a:avLst>
              <a:gd name="adj" fmla="val 262"/>
            </a:avLst>
          </a:prstGeom>
          <a:solidFill xmlns:a="http://schemas.openxmlformats.org/drawingml/2006/main">
            <a:srgbClr val="1E3A8A"/>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E51CB1F-1C2D-4851-87BD-D1BEE25CCE6A}"/>
              </a:ext>
            </a:extLst>
          </p:cNvPr>
          <p:cNvSpPr>
            <a:spLocks xmlns:a="http://schemas.openxmlformats.org/drawingml/2006/main" noGrp="1"/>
          </p:cNvSpPr>
          <p:nvPr/>
        </p:nvSpPr>
        <p:spPr>
          <a:xfrm xmlns:a="http://schemas.openxmlformats.org/drawingml/2006/main">
            <a:off x="9696450" y="2609850"/>
            <a:ext cx="7391400" cy="1657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a:solidFill>
                  <a:srgbClr val="FFFFFF"/>
                </a:solidFill>
              </a:defRPr>
            </a:pPr>
            <a:r>
              <a:rPr sz="2175">
                <a:solidFill>
                  <a:srgbClr val="FFFFFF"/>
                </a:solidFill>
              </a:rPr>
              <a:t>1. Add meeting</a:t>
            </a:r>
          </a:p>
          <a:p xmlns:a="http://schemas.openxmlformats.org/drawingml/2006/main">
            <a:pPr>
              <a:defRPr sz="2175">
                <a:solidFill>
                  <a:srgbClr val="FFFFFF"/>
                </a:solidFill>
              </a:defRPr>
            </a:pPr>
            <a:r>
              <a:rPr sz="2175">
                <a:solidFill>
                  <a:srgbClr val="FFFFFF"/>
                </a:solidFill>
              </a:rPr>
              <a:t>5. View students in a club</a:t>
            </a:r>
          </a:p>
          <a:p xmlns:a="http://schemas.openxmlformats.org/drawingml/2006/main">
            <a:pPr>
              <a:defRPr sz="2175">
                <a:solidFill>
                  <a:srgbClr val="FFFFFF"/>
                </a:solidFill>
              </a:defRPr>
            </a:pPr>
            <a:r>
              <a:rPr sz="2175">
                <a:solidFill>
                  <a:srgbClr val="FFFFFF"/>
                </a:solidFill>
              </a:rPr>
              <a:t>8. Record/update budget</a:t>
            </a:r>
          </a:p>
          <a:p xmlns:a="http://schemas.openxmlformats.org/drawingml/2006/main">
            <a:pPr>
              <a:defRPr sz="2175">
                <a:solidFill>
                  <a:srgbClr val="FFFFFF"/>
                </a:solidFill>
              </a:defRPr>
            </a:pPr>
            <a:r>
              <a:rPr sz="2175">
                <a:solidFill>
                  <a:srgbClr val="FFFFFF"/>
                </a:solidFill>
              </a:rPr>
              <a:t>10. Show remaining budget</a:t>
            </a:r>
          </a:p>
          <a:p xmlns:a="http://schemas.openxmlformats.org/drawingml/2006/main">
            <a:pPr>
              <a:defRPr sz="2175">
                <a:solidFill>
                  <a:srgbClr val="FFFFFF"/>
                </a:solidFill>
              </a:defRPr>
            </a:pPr>
            <a:r>
              <a:rPr sz="2175">
                <a:solidFill>
                  <a:srgbClr val="FFFFFF"/>
                </a:solidFill>
              </a:rPr>
              <a:t>14. Student joins club</a:t>
            </a:r>
          </a:p>
          <a:p xmlns:a="http://schemas.openxmlformats.org/drawingml/2006/main">
            <a:pPr>
              <a:defRPr sz="2175">
                <a:solidFill>
                  <a:srgbClr val="FFFFFF"/>
                </a:solidFill>
              </a:defRPr>
            </a:pPr>
            <a:r>
              <a:rPr sz="2175">
                <a:solidFill>
                  <a:srgbClr val="FFFFFF"/>
                </a:solidFill>
              </a:rPr>
              <a:t>17. View student events on a date</a:t>
            </a:r>
          </a:p>
        </p:txBody>
      </p:sp>
    </p:spTree>
    <p:extLst>
      <p:ext uri="{BB962C8B-B14F-4D97-AF65-F5344CB8AC3E}">
        <p14:creationId xmlns:p14="http://schemas.microsoft.com/office/powerpoint/2010/main" val="4775845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004F2F5-FBE1-4652-8FAA-960EA49186DA}"/>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Queries And Reports</a:t>
            </a:r>
          </a:p>
        </p:txBody>
      </p:sp>
      <p:sp>
        <p:nvSpPr>
          <p:cNvPr id="2" name="slide-subtitle">
            <a:extLst xmlns:a="http://schemas.openxmlformats.org/drawingml/2006/main">
              <a:ext uri="{FF2B5EF4-FFF2-40B4-BE49-F238E27FC236}">
                <a16:creationId xmlns:a16="http://schemas.microsoft.com/office/drawing/2014/main" id="{45437D76-74B2-4C9A-9F14-2837EFB23915}"/>
              </a:ext>
            </a:extLst>
          </p:cNvPr>
          <p:cNvSpPr>
            <a:spLocks xmlns:a="http://schemas.openxmlformats.org/drawingml/2006/main" noGrp="1"/>
          </p:cNvSpPr>
          <p:nvPr/>
        </p:nvSpPr>
        <p:spPr>
          <a:xfrm xmlns:a="http://schemas.openxmlformats.org/drawingml/2006/main">
            <a:off x="876300" y="1390650"/>
            <a:ext cx="8915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Most menu options are SELECT, INSERT, UPDATE, or DELETE statements.</a:t>
            </a:r>
          </a:p>
        </p:txBody>
      </p:sp>
      <p:sp>
        <p:nvSpPr>
          <p:cNvPr id="3" name="">
            <a:extLst xmlns:a="http://schemas.openxmlformats.org/drawingml/2006/main">
              <a:ext uri="{FF2B5EF4-FFF2-40B4-BE49-F238E27FC236}">
                <a16:creationId xmlns:a16="http://schemas.microsoft.com/office/drawing/2014/main" id="{3D8C7D18-6644-410A-9DDC-A97773EA0B04}"/>
              </a:ext>
            </a:extLst>
          </p:cNvPr>
          <p:cNvSpPr>
            <a:spLocks xmlns:a="http://schemas.openxmlformats.org/drawingml/2006/main" noGrp="1"/>
          </p:cNvSpPr>
          <p:nvPr/>
        </p:nvSpPr>
        <p:spPr>
          <a:xfrm xmlns:a="http://schemas.openxmlformats.org/drawingml/2006/main">
            <a:off x="876300" y="2324100"/>
            <a:ext cx="53530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1E3A8A"/>
                </a:solidFill>
              </a:defRPr>
            </a:pPr>
            <a:r>
              <a:rPr sz="2625" b="1">
                <a:solidFill>
                  <a:srgbClr val="1E3A8A"/>
                </a:solidFill>
              </a:rPr>
              <a:t>Club views</a:t>
            </a:r>
          </a:p>
        </p:txBody>
      </p:sp>
      <p:sp>
        <p:nvSpPr>
          <p:cNvPr id="4" name="dot-1">
            <a:extLst xmlns:a="http://schemas.openxmlformats.org/drawingml/2006/main">
              <a:ext uri="{FF2B5EF4-FFF2-40B4-BE49-F238E27FC236}">
                <a16:creationId xmlns:a16="http://schemas.microsoft.com/office/drawing/2014/main" id="{645E5F3B-0ECF-42EE-B402-D5596D91747E}"/>
              </a:ext>
            </a:extLst>
          </p:cNvPr>
          <p:cNvSpPr>
            <a:spLocks xmlns:a="http://schemas.openxmlformats.org/drawingml/2006/main" noGrp="1"/>
          </p:cNvSpPr>
          <p:nvPr/>
        </p:nvSpPr>
        <p:spPr>
          <a:xfrm xmlns:a="http://schemas.openxmlformats.org/drawingml/2006/main">
            <a:off x="876300" y="28194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 name="bullet-text-1">
            <a:extLst xmlns:a="http://schemas.openxmlformats.org/drawingml/2006/main">
              <a:ext uri="{FF2B5EF4-FFF2-40B4-BE49-F238E27FC236}">
                <a16:creationId xmlns:a16="http://schemas.microsoft.com/office/drawing/2014/main" id="{C12CE05F-C1F2-452B-9736-F4B137D51528}"/>
              </a:ext>
            </a:extLst>
          </p:cNvPr>
          <p:cNvSpPr>
            <a:spLocks xmlns:a="http://schemas.openxmlformats.org/drawingml/2006/main" noGrp="1"/>
          </p:cNvSpPr>
          <p:nvPr/>
        </p:nvSpPr>
        <p:spPr>
          <a:xfrm xmlns:a="http://schemas.openxmlformats.org/drawingml/2006/main">
            <a:off x="1143000" y="281940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Students in a club/year</a:t>
            </a:r>
          </a:p>
        </p:txBody>
      </p:sp>
      <p:sp>
        <p:nvSpPr>
          <p:cNvPr id="6" name="dot-2">
            <a:extLst xmlns:a="http://schemas.openxmlformats.org/drawingml/2006/main">
              <a:ext uri="{FF2B5EF4-FFF2-40B4-BE49-F238E27FC236}">
                <a16:creationId xmlns:a16="http://schemas.microsoft.com/office/drawing/2014/main" id="{92DFF1D1-89E2-409D-8EF9-5475E75AA155}"/>
              </a:ext>
            </a:extLst>
          </p:cNvPr>
          <p:cNvSpPr>
            <a:spLocks xmlns:a="http://schemas.openxmlformats.org/drawingml/2006/main" noGrp="1"/>
          </p:cNvSpPr>
          <p:nvPr/>
        </p:nvSpPr>
        <p:spPr>
          <a:xfrm xmlns:a="http://schemas.openxmlformats.org/drawingml/2006/main">
            <a:off x="876300" y="32194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 name="bullet-text-2">
            <a:extLst xmlns:a="http://schemas.openxmlformats.org/drawingml/2006/main">
              <a:ext uri="{FF2B5EF4-FFF2-40B4-BE49-F238E27FC236}">
                <a16:creationId xmlns:a16="http://schemas.microsoft.com/office/drawing/2014/main" id="{8588D363-C24C-4E2A-91E3-C3A8887123F0}"/>
              </a:ext>
            </a:extLst>
          </p:cNvPr>
          <p:cNvSpPr>
            <a:spLocks xmlns:a="http://schemas.openxmlformats.org/drawingml/2006/main" noGrp="1"/>
          </p:cNvSpPr>
          <p:nvPr/>
        </p:nvSpPr>
        <p:spPr>
          <a:xfrm xmlns:a="http://schemas.openxmlformats.org/drawingml/2006/main">
            <a:off x="1143000" y="321945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Clubs and advisors</a:t>
            </a:r>
          </a:p>
        </p:txBody>
      </p:sp>
      <p:sp>
        <p:nvSpPr>
          <p:cNvPr id="8" name="dot-3">
            <a:extLst xmlns:a="http://schemas.openxmlformats.org/drawingml/2006/main">
              <a:ext uri="{FF2B5EF4-FFF2-40B4-BE49-F238E27FC236}">
                <a16:creationId xmlns:a16="http://schemas.microsoft.com/office/drawing/2014/main" id="{9AEACCAD-FEBF-4576-AC61-B8C1055CB64D}"/>
              </a:ext>
            </a:extLst>
          </p:cNvPr>
          <p:cNvSpPr>
            <a:spLocks xmlns:a="http://schemas.openxmlformats.org/drawingml/2006/main" noGrp="1"/>
          </p:cNvSpPr>
          <p:nvPr/>
        </p:nvSpPr>
        <p:spPr>
          <a:xfrm xmlns:a="http://schemas.openxmlformats.org/drawingml/2006/main">
            <a:off x="876300" y="36195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9" name="bullet-text-3">
            <a:extLst xmlns:a="http://schemas.openxmlformats.org/drawingml/2006/main">
              <a:ext uri="{FF2B5EF4-FFF2-40B4-BE49-F238E27FC236}">
                <a16:creationId xmlns:a16="http://schemas.microsoft.com/office/drawing/2014/main" id="{F8519661-4A1C-4EBF-A2A9-5868B42540C9}"/>
              </a:ext>
            </a:extLst>
          </p:cNvPr>
          <p:cNvSpPr>
            <a:spLocks xmlns:a="http://schemas.openxmlformats.org/drawingml/2006/main" noGrp="1"/>
          </p:cNvSpPr>
          <p:nvPr/>
        </p:nvSpPr>
        <p:spPr>
          <a:xfrm xmlns:a="http://schemas.openxmlformats.org/drawingml/2006/main">
            <a:off x="1143000" y="361950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Meetings and field trips</a:t>
            </a:r>
          </a:p>
        </p:txBody>
      </p:sp>
      <p:sp>
        <p:nvSpPr>
          <p:cNvPr id="10" name="">
            <a:extLst xmlns:a="http://schemas.openxmlformats.org/drawingml/2006/main">
              <a:ext uri="{FF2B5EF4-FFF2-40B4-BE49-F238E27FC236}">
                <a16:creationId xmlns:a16="http://schemas.microsoft.com/office/drawing/2014/main" id="{38CB5411-C28B-4838-B70E-E7EEF1AC8CA4}"/>
              </a:ext>
            </a:extLst>
          </p:cNvPr>
          <p:cNvSpPr>
            <a:spLocks xmlns:a="http://schemas.openxmlformats.org/drawingml/2006/main" noGrp="1"/>
          </p:cNvSpPr>
          <p:nvPr/>
        </p:nvSpPr>
        <p:spPr>
          <a:xfrm xmlns:a="http://schemas.openxmlformats.org/drawingml/2006/main">
            <a:off x="6477000" y="2324100"/>
            <a:ext cx="53530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1E3A8A"/>
                </a:solidFill>
              </a:defRPr>
            </a:pPr>
            <a:r>
              <a:rPr sz="2625" b="1">
                <a:solidFill>
                  <a:srgbClr val="1E3A8A"/>
                </a:solidFill>
              </a:rPr>
              <a:t>Budget views</a:t>
            </a:r>
          </a:p>
        </p:txBody>
      </p:sp>
      <p:sp>
        <p:nvSpPr>
          <p:cNvPr id="11" name="dot-1">
            <a:extLst xmlns:a="http://schemas.openxmlformats.org/drawingml/2006/main">
              <a:ext uri="{FF2B5EF4-FFF2-40B4-BE49-F238E27FC236}">
                <a16:creationId xmlns:a16="http://schemas.microsoft.com/office/drawing/2014/main" id="{2E27139D-09D3-46E9-A964-1E076923B697}"/>
              </a:ext>
            </a:extLst>
          </p:cNvPr>
          <p:cNvSpPr>
            <a:spLocks xmlns:a="http://schemas.openxmlformats.org/drawingml/2006/main" noGrp="1"/>
          </p:cNvSpPr>
          <p:nvPr/>
        </p:nvSpPr>
        <p:spPr>
          <a:xfrm xmlns:a="http://schemas.openxmlformats.org/drawingml/2006/main">
            <a:off x="6477000" y="2819400"/>
            <a:ext cx="114300" cy="11430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12" name="bullet-text-1">
            <a:extLst xmlns:a="http://schemas.openxmlformats.org/drawingml/2006/main">
              <a:ext uri="{FF2B5EF4-FFF2-40B4-BE49-F238E27FC236}">
                <a16:creationId xmlns:a16="http://schemas.microsoft.com/office/drawing/2014/main" id="{819B16DD-299A-49CB-BED2-A6613D84426F}"/>
              </a:ext>
            </a:extLst>
          </p:cNvPr>
          <p:cNvSpPr>
            <a:spLocks xmlns:a="http://schemas.openxmlformats.org/drawingml/2006/main" noGrp="1"/>
          </p:cNvSpPr>
          <p:nvPr/>
        </p:nvSpPr>
        <p:spPr>
          <a:xfrm xmlns:a="http://schemas.openxmlformats.org/drawingml/2006/main">
            <a:off x="6743700" y="281940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Record expenses</a:t>
            </a:r>
          </a:p>
        </p:txBody>
      </p:sp>
      <p:sp>
        <p:nvSpPr>
          <p:cNvPr id="13" name="dot-2">
            <a:extLst xmlns:a="http://schemas.openxmlformats.org/drawingml/2006/main">
              <a:ext uri="{FF2B5EF4-FFF2-40B4-BE49-F238E27FC236}">
                <a16:creationId xmlns:a16="http://schemas.microsoft.com/office/drawing/2014/main" id="{B1B2A7DC-C748-43EE-89B6-707E1675CF30}"/>
              </a:ext>
            </a:extLst>
          </p:cNvPr>
          <p:cNvSpPr>
            <a:spLocks xmlns:a="http://schemas.openxmlformats.org/drawingml/2006/main" noGrp="1"/>
          </p:cNvSpPr>
          <p:nvPr/>
        </p:nvSpPr>
        <p:spPr>
          <a:xfrm xmlns:a="http://schemas.openxmlformats.org/drawingml/2006/main">
            <a:off x="6477000" y="3219450"/>
            <a:ext cx="114300" cy="11430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14" name="bullet-text-2">
            <a:extLst xmlns:a="http://schemas.openxmlformats.org/drawingml/2006/main">
              <a:ext uri="{FF2B5EF4-FFF2-40B4-BE49-F238E27FC236}">
                <a16:creationId xmlns:a16="http://schemas.microsoft.com/office/drawing/2014/main" id="{DD405542-2055-406C-AD3B-A164BE6B449A}"/>
              </a:ext>
            </a:extLst>
          </p:cNvPr>
          <p:cNvSpPr>
            <a:spLocks xmlns:a="http://schemas.openxmlformats.org/drawingml/2006/main" noGrp="1"/>
          </p:cNvSpPr>
          <p:nvPr/>
        </p:nvSpPr>
        <p:spPr>
          <a:xfrm xmlns:a="http://schemas.openxmlformats.org/drawingml/2006/main">
            <a:off x="6743700" y="321945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Total expenses</a:t>
            </a:r>
          </a:p>
        </p:txBody>
      </p:sp>
      <p:sp>
        <p:nvSpPr>
          <p:cNvPr id="15" name="dot-3">
            <a:extLst xmlns:a="http://schemas.openxmlformats.org/drawingml/2006/main">
              <a:ext uri="{FF2B5EF4-FFF2-40B4-BE49-F238E27FC236}">
                <a16:creationId xmlns:a16="http://schemas.microsoft.com/office/drawing/2014/main" id="{0C281D7D-0BD3-4F08-B674-60D9C3FA69CB}"/>
              </a:ext>
            </a:extLst>
          </p:cNvPr>
          <p:cNvSpPr>
            <a:spLocks xmlns:a="http://schemas.openxmlformats.org/drawingml/2006/main" noGrp="1"/>
          </p:cNvSpPr>
          <p:nvPr/>
        </p:nvSpPr>
        <p:spPr>
          <a:xfrm xmlns:a="http://schemas.openxmlformats.org/drawingml/2006/main">
            <a:off x="6477000" y="3619500"/>
            <a:ext cx="114300" cy="11430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16" name="bullet-text-3">
            <a:extLst xmlns:a="http://schemas.openxmlformats.org/drawingml/2006/main">
              <a:ext uri="{FF2B5EF4-FFF2-40B4-BE49-F238E27FC236}">
                <a16:creationId xmlns:a16="http://schemas.microsoft.com/office/drawing/2014/main" id="{577278A6-4F6F-445D-8179-D7B6571DFDAB}"/>
              </a:ext>
            </a:extLst>
          </p:cNvPr>
          <p:cNvSpPr>
            <a:spLocks xmlns:a="http://schemas.openxmlformats.org/drawingml/2006/main" noGrp="1"/>
          </p:cNvSpPr>
          <p:nvPr/>
        </p:nvSpPr>
        <p:spPr>
          <a:xfrm xmlns:a="http://schemas.openxmlformats.org/drawingml/2006/main">
            <a:off x="6743700" y="361950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Remaining budget</a:t>
            </a:r>
          </a:p>
        </p:txBody>
      </p:sp>
      <p:sp>
        <p:nvSpPr>
          <p:cNvPr id="17" name="dot-4">
            <a:extLst xmlns:a="http://schemas.openxmlformats.org/drawingml/2006/main">
              <a:ext uri="{FF2B5EF4-FFF2-40B4-BE49-F238E27FC236}">
                <a16:creationId xmlns:a16="http://schemas.microsoft.com/office/drawing/2014/main" id="{DA53A243-7BC7-45DF-B0E6-4A67C5A8E202}"/>
              </a:ext>
            </a:extLst>
          </p:cNvPr>
          <p:cNvSpPr>
            <a:spLocks xmlns:a="http://schemas.openxmlformats.org/drawingml/2006/main" noGrp="1"/>
          </p:cNvSpPr>
          <p:nvPr/>
        </p:nvSpPr>
        <p:spPr>
          <a:xfrm xmlns:a="http://schemas.openxmlformats.org/drawingml/2006/main">
            <a:off x="6477000" y="4019550"/>
            <a:ext cx="114300" cy="11430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18" name="bullet-text-4">
            <a:extLst xmlns:a="http://schemas.openxmlformats.org/drawingml/2006/main">
              <a:ext uri="{FF2B5EF4-FFF2-40B4-BE49-F238E27FC236}">
                <a16:creationId xmlns:a16="http://schemas.microsoft.com/office/drawing/2014/main" id="{CB08ABC6-6EAE-49AE-8B4B-9A9F58EF383B}"/>
              </a:ext>
            </a:extLst>
          </p:cNvPr>
          <p:cNvSpPr>
            <a:spLocks xmlns:a="http://schemas.openxmlformats.org/drawingml/2006/main" noGrp="1"/>
          </p:cNvSpPr>
          <p:nvPr/>
        </p:nvSpPr>
        <p:spPr>
          <a:xfrm xmlns:a="http://schemas.openxmlformats.org/drawingml/2006/main">
            <a:off x="6743700" y="401955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Total budget by year</a:t>
            </a:r>
          </a:p>
        </p:txBody>
      </p:sp>
      <p:sp>
        <p:nvSpPr>
          <p:cNvPr id="19" name="">
            <a:extLst xmlns:a="http://schemas.openxmlformats.org/drawingml/2006/main">
              <a:ext uri="{FF2B5EF4-FFF2-40B4-BE49-F238E27FC236}">
                <a16:creationId xmlns:a16="http://schemas.microsoft.com/office/drawing/2014/main" id="{FFB4E32E-390F-4170-9A9B-179295132B68}"/>
              </a:ext>
            </a:extLst>
          </p:cNvPr>
          <p:cNvSpPr>
            <a:spLocks xmlns:a="http://schemas.openxmlformats.org/drawingml/2006/main" noGrp="1"/>
          </p:cNvSpPr>
          <p:nvPr/>
        </p:nvSpPr>
        <p:spPr>
          <a:xfrm xmlns:a="http://schemas.openxmlformats.org/drawingml/2006/main">
            <a:off x="12058650" y="2324100"/>
            <a:ext cx="53530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1E3A8A"/>
                </a:solidFill>
              </a:defRPr>
            </a:pPr>
            <a:r>
              <a:rPr sz="2625" b="1">
                <a:solidFill>
                  <a:srgbClr val="1E3A8A"/>
                </a:solidFill>
              </a:rPr>
              <a:t>Student views</a:t>
            </a:r>
          </a:p>
        </p:txBody>
      </p:sp>
      <p:sp>
        <p:nvSpPr>
          <p:cNvPr id="20" name="dot-1">
            <a:extLst xmlns:a="http://schemas.openxmlformats.org/drawingml/2006/main">
              <a:ext uri="{FF2B5EF4-FFF2-40B4-BE49-F238E27FC236}">
                <a16:creationId xmlns:a16="http://schemas.microsoft.com/office/drawing/2014/main" id="{0F043131-3F23-4DEB-9DBA-2845F6331859}"/>
              </a:ext>
            </a:extLst>
          </p:cNvPr>
          <p:cNvSpPr>
            <a:spLocks xmlns:a="http://schemas.openxmlformats.org/drawingml/2006/main" noGrp="1"/>
          </p:cNvSpPr>
          <p:nvPr/>
        </p:nvSpPr>
        <p:spPr>
          <a:xfrm xmlns:a="http://schemas.openxmlformats.org/drawingml/2006/main">
            <a:off x="12058650" y="2819400"/>
            <a:ext cx="114300" cy="114300"/>
          </a:xfrm>
          <a:prstGeom xmlns:a="http://schemas.openxmlformats.org/drawingml/2006/main" prst="roundRect">
            <a:avLst>
              <a:gd name="adj" fmla="val 50000"/>
            </a:avLst>
          </a:prstGeom>
          <a:solidFill xmlns:a="http://schemas.openxmlformats.org/drawingml/2006/main">
            <a:srgbClr val="B45309"/>
          </a:solidFill>
          <a:ln xmlns:a="http://schemas.openxmlformats.org/drawingml/2006/main" w="0">
            <a:solidFill>
              <a:srgbClr val="B45309"/>
            </a:solidFill>
            <a:prstDash val="solid"/>
          </a:ln>
        </p:spPr>
      </p:sp>
      <p:sp>
        <p:nvSpPr>
          <p:cNvPr id="21" name="bullet-text-1">
            <a:extLst xmlns:a="http://schemas.openxmlformats.org/drawingml/2006/main">
              <a:ext uri="{FF2B5EF4-FFF2-40B4-BE49-F238E27FC236}">
                <a16:creationId xmlns:a16="http://schemas.microsoft.com/office/drawing/2014/main" id="{8EB150EA-FF39-4A1C-A856-6531FF52FDB6}"/>
              </a:ext>
            </a:extLst>
          </p:cNvPr>
          <p:cNvSpPr>
            <a:spLocks xmlns:a="http://schemas.openxmlformats.org/drawingml/2006/main" noGrp="1"/>
          </p:cNvSpPr>
          <p:nvPr/>
        </p:nvSpPr>
        <p:spPr>
          <a:xfrm xmlns:a="http://schemas.openxmlformats.org/drawingml/2006/main">
            <a:off x="12325350" y="281940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Join or leave clubs</a:t>
            </a:r>
          </a:p>
        </p:txBody>
      </p:sp>
      <p:sp>
        <p:nvSpPr>
          <p:cNvPr id="22" name="dot-2">
            <a:extLst xmlns:a="http://schemas.openxmlformats.org/drawingml/2006/main">
              <a:ext uri="{FF2B5EF4-FFF2-40B4-BE49-F238E27FC236}">
                <a16:creationId xmlns:a16="http://schemas.microsoft.com/office/drawing/2014/main" id="{745EC362-3CB3-405A-9B26-8AA5D23B1971}"/>
              </a:ext>
            </a:extLst>
          </p:cNvPr>
          <p:cNvSpPr>
            <a:spLocks xmlns:a="http://schemas.openxmlformats.org/drawingml/2006/main" noGrp="1"/>
          </p:cNvSpPr>
          <p:nvPr/>
        </p:nvSpPr>
        <p:spPr>
          <a:xfrm xmlns:a="http://schemas.openxmlformats.org/drawingml/2006/main">
            <a:off x="12058650" y="3219450"/>
            <a:ext cx="114300" cy="114300"/>
          </a:xfrm>
          <a:prstGeom xmlns:a="http://schemas.openxmlformats.org/drawingml/2006/main" prst="roundRect">
            <a:avLst>
              <a:gd name="adj" fmla="val 50000"/>
            </a:avLst>
          </a:prstGeom>
          <a:solidFill xmlns:a="http://schemas.openxmlformats.org/drawingml/2006/main">
            <a:srgbClr val="B45309"/>
          </a:solidFill>
          <a:ln xmlns:a="http://schemas.openxmlformats.org/drawingml/2006/main" w="0">
            <a:solidFill>
              <a:srgbClr val="B45309"/>
            </a:solidFill>
            <a:prstDash val="solid"/>
          </a:ln>
        </p:spPr>
      </p:sp>
      <p:sp>
        <p:nvSpPr>
          <p:cNvPr id="23" name="bullet-text-2">
            <a:extLst xmlns:a="http://schemas.openxmlformats.org/drawingml/2006/main">
              <a:ext uri="{FF2B5EF4-FFF2-40B4-BE49-F238E27FC236}">
                <a16:creationId xmlns:a16="http://schemas.microsoft.com/office/drawing/2014/main" id="{03280F2C-B529-4495-8243-8C03E8DDC06D}"/>
              </a:ext>
            </a:extLst>
          </p:cNvPr>
          <p:cNvSpPr>
            <a:spLocks xmlns:a="http://schemas.openxmlformats.org/drawingml/2006/main" noGrp="1"/>
          </p:cNvSpPr>
          <p:nvPr/>
        </p:nvSpPr>
        <p:spPr>
          <a:xfrm xmlns:a="http://schemas.openxmlformats.org/drawingml/2006/main">
            <a:off x="12325350" y="321945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List student's clubs</a:t>
            </a:r>
          </a:p>
        </p:txBody>
      </p:sp>
      <p:sp>
        <p:nvSpPr>
          <p:cNvPr id="24" name="dot-3">
            <a:extLst xmlns:a="http://schemas.openxmlformats.org/drawingml/2006/main">
              <a:ext uri="{FF2B5EF4-FFF2-40B4-BE49-F238E27FC236}">
                <a16:creationId xmlns:a16="http://schemas.microsoft.com/office/drawing/2014/main" id="{12AC172F-AE1F-4462-85B5-398A689375EE}"/>
              </a:ext>
            </a:extLst>
          </p:cNvPr>
          <p:cNvSpPr>
            <a:spLocks xmlns:a="http://schemas.openxmlformats.org/drawingml/2006/main" noGrp="1"/>
          </p:cNvSpPr>
          <p:nvPr/>
        </p:nvSpPr>
        <p:spPr>
          <a:xfrm xmlns:a="http://schemas.openxmlformats.org/drawingml/2006/main">
            <a:off x="12058650" y="3619500"/>
            <a:ext cx="114300" cy="114300"/>
          </a:xfrm>
          <a:prstGeom xmlns:a="http://schemas.openxmlformats.org/drawingml/2006/main" prst="roundRect">
            <a:avLst>
              <a:gd name="adj" fmla="val 50000"/>
            </a:avLst>
          </a:prstGeom>
          <a:solidFill xmlns:a="http://schemas.openxmlformats.org/drawingml/2006/main">
            <a:srgbClr val="B45309"/>
          </a:solidFill>
          <a:ln xmlns:a="http://schemas.openxmlformats.org/drawingml/2006/main" w="0">
            <a:solidFill>
              <a:srgbClr val="B45309"/>
            </a:solidFill>
            <a:prstDash val="solid"/>
          </a:ln>
        </p:spPr>
      </p:sp>
      <p:sp>
        <p:nvSpPr>
          <p:cNvPr id="25" name="bullet-text-3">
            <a:extLst xmlns:a="http://schemas.openxmlformats.org/drawingml/2006/main">
              <a:ext uri="{FF2B5EF4-FFF2-40B4-BE49-F238E27FC236}">
                <a16:creationId xmlns:a16="http://schemas.microsoft.com/office/drawing/2014/main" id="{031DC0FF-B8C1-41D6-9297-60AE3ABD8FB4}"/>
              </a:ext>
            </a:extLst>
          </p:cNvPr>
          <p:cNvSpPr>
            <a:spLocks xmlns:a="http://schemas.openxmlformats.org/drawingml/2006/main" noGrp="1"/>
          </p:cNvSpPr>
          <p:nvPr/>
        </p:nvSpPr>
        <p:spPr>
          <a:xfrm xmlns:a="http://schemas.openxmlformats.org/drawingml/2006/main">
            <a:off x="12325350" y="3619500"/>
            <a:ext cx="5086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11827"/>
                </a:solidFill>
              </a:defRPr>
            </a:pPr>
            <a:r>
              <a:rPr sz="1800">
                <a:solidFill>
                  <a:srgbClr val="111827"/>
                </a:solidFill>
              </a:rPr>
              <a:t>Events on a specific date</a:t>
            </a:r>
          </a:p>
        </p:txBody>
      </p:sp>
    </p:spTree>
    <p:extLst>
      <p:ext uri="{BB962C8B-B14F-4D97-AF65-F5344CB8AC3E}">
        <p14:creationId xmlns:p14="http://schemas.microsoft.com/office/powerpoint/2010/main" val="3231280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C3C52A02-8024-495C-8DFF-380AACEF05BD}"/>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Scheduling Conflicts</a:t>
            </a:r>
          </a:p>
        </p:txBody>
      </p:sp>
      <p:sp>
        <p:nvSpPr>
          <p:cNvPr id="2" name="slide-subtitle">
            <a:extLst xmlns:a="http://schemas.openxmlformats.org/drawingml/2006/main">
              <a:ext uri="{FF2B5EF4-FFF2-40B4-BE49-F238E27FC236}">
                <a16:creationId xmlns:a16="http://schemas.microsoft.com/office/drawing/2014/main" id="{B343B6F5-4886-4F51-811C-6481E1674665}"/>
              </a:ext>
            </a:extLst>
          </p:cNvPr>
          <p:cNvSpPr>
            <a:spLocks xmlns:a="http://schemas.openxmlformats.org/drawingml/2006/main" noGrp="1"/>
          </p:cNvSpPr>
          <p:nvPr/>
        </p:nvSpPr>
        <p:spPr>
          <a:xfrm xmlns:a="http://schemas.openxmlformats.org/drawingml/2006/main">
            <a:off x="876300" y="1390650"/>
            <a:ext cx="102298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Before adding a meeting, Python checks whether the time overlaps existing meetings.</a:t>
            </a:r>
          </a:p>
        </p:txBody>
      </p:sp>
      <p:sp>
        <p:nvSpPr>
          <p:cNvPr id="3" name="dot-1">
            <a:extLst xmlns:a="http://schemas.openxmlformats.org/drawingml/2006/main">
              <a:ext uri="{FF2B5EF4-FFF2-40B4-BE49-F238E27FC236}">
                <a16:creationId xmlns:a16="http://schemas.microsoft.com/office/drawing/2014/main" id="{EDC2D485-0F2F-440C-9712-9B797A915F9D}"/>
              </a:ext>
            </a:extLst>
          </p:cNvPr>
          <p:cNvSpPr>
            <a:spLocks xmlns:a="http://schemas.openxmlformats.org/drawingml/2006/main" noGrp="1"/>
          </p:cNvSpPr>
          <p:nvPr/>
        </p:nvSpPr>
        <p:spPr>
          <a:xfrm xmlns:a="http://schemas.openxmlformats.org/drawingml/2006/main">
            <a:off x="876300" y="20574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4" name="bullet-text-1">
            <a:extLst xmlns:a="http://schemas.openxmlformats.org/drawingml/2006/main">
              <a:ext uri="{FF2B5EF4-FFF2-40B4-BE49-F238E27FC236}">
                <a16:creationId xmlns:a16="http://schemas.microsoft.com/office/drawing/2014/main" id="{B65EE6A3-8DDA-4645-A41D-F0023E87B854}"/>
              </a:ext>
            </a:extLst>
          </p:cNvPr>
          <p:cNvSpPr>
            <a:spLocks xmlns:a="http://schemas.openxmlformats.org/drawingml/2006/main" noGrp="1"/>
          </p:cNvSpPr>
          <p:nvPr/>
        </p:nvSpPr>
        <p:spPr>
          <a:xfrm xmlns:a="http://schemas.openxmlformats.org/drawingml/2006/main">
            <a:off x="1143000" y="205740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Same date is required for a conflict.</a:t>
            </a:r>
          </a:p>
        </p:txBody>
      </p:sp>
      <p:sp>
        <p:nvSpPr>
          <p:cNvPr id="5" name="dot-2">
            <a:extLst xmlns:a="http://schemas.openxmlformats.org/drawingml/2006/main">
              <a:ext uri="{FF2B5EF4-FFF2-40B4-BE49-F238E27FC236}">
                <a16:creationId xmlns:a16="http://schemas.microsoft.com/office/drawing/2014/main" id="{1DDCBFA1-6B11-4E8D-A20D-4866861F1809}"/>
              </a:ext>
            </a:extLst>
          </p:cNvPr>
          <p:cNvSpPr>
            <a:spLocks xmlns:a="http://schemas.openxmlformats.org/drawingml/2006/main" noGrp="1"/>
          </p:cNvSpPr>
          <p:nvPr/>
        </p:nvSpPr>
        <p:spPr>
          <a:xfrm xmlns:a="http://schemas.openxmlformats.org/drawingml/2006/main">
            <a:off x="876300" y="24765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6" name="bullet-text-2">
            <a:extLst xmlns:a="http://schemas.openxmlformats.org/drawingml/2006/main">
              <a:ext uri="{FF2B5EF4-FFF2-40B4-BE49-F238E27FC236}">
                <a16:creationId xmlns:a16="http://schemas.microsoft.com/office/drawing/2014/main" id="{7E7B2908-1411-4CDF-8CEA-34CA7F028DB1}"/>
              </a:ext>
            </a:extLst>
          </p:cNvPr>
          <p:cNvSpPr>
            <a:spLocks xmlns:a="http://schemas.openxmlformats.org/drawingml/2006/main" noGrp="1"/>
          </p:cNvSpPr>
          <p:nvPr/>
        </p:nvSpPr>
        <p:spPr>
          <a:xfrm xmlns:a="http://schemas.openxmlformats.org/drawingml/2006/main">
            <a:off x="1143000" y="247650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New start time must be before an existing end time.</a:t>
            </a:r>
          </a:p>
        </p:txBody>
      </p:sp>
      <p:sp>
        <p:nvSpPr>
          <p:cNvPr id="7" name="dot-3">
            <a:extLst xmlns:a="http://schemas.openxmlformats.org/drawingml/2006/main">
              <a:ext uri="{FF2B5EF4-FFF2-40B4-BE49-F238E27FC236}">
                <a16:creationId xmlns:a16="http://schemas.microsoft.com/office/drawing/2014/main" id="{17F7025D-B7E9-401F-9214-CBF7F3587AAF}"/>
              </a:ext>
            </a:extLst>
          </p:cNvPr>
          <p:cNvSpPr>
            <a:spLocks xmlns:a="http://schemas.openxmlformats.org/drawingml/2006/main" noGrp="1"/>
          </p:cNvSpPr>
          <p:nvPr/>
        </p:nvSpPr>
        <p:spPr>
          <a:xfrm xmlns:a="http://schemas.openxmlformats.org/drawingml/2006/main">
            <a:off x="876300" y="28956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8" name="bullet-text-3">
            <a:extLst xmlns:a="http://schemas.openxmlformats.org/drawingml/2006/main">
              <a:ext uri="{FF2B5EF4-FFF2-40B4-BE49-F238E27FC236}">
                <a16:creationId xmlns:a16="http://schemas.microsoft.com/office/drawing/2014/main" id="{5C2217BC-1946-4318-8679-050A3E03D1B1}"/>
              </a:ext>
            </a:extLst>
          </p:cNvPr>
          <p:cNvSpPr>
            <a:spLocks xmlns:a="http://schemas.openxmlformats.org/drawingml/2006/main" noGrp="1"/>
          </p:cNvSpPr>
          <p:nvPr/>
        </p:nvSpPr>
        <p:spPr>
          <a:xfrm xmlns:a="http://schemas.openxmlformats.org/drawingml/2006/main">
            <a:off x="1143000" y="289560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New end time must be after an existing start time.</a:t>
            </a:r>
          </a:p>
        </p:txBody>
      </p:sp>
      <p:sp>
        <p:nvSpPr>
          <p:cNvPr id="9" name="dot-4">
            <a:extLst xmlns:a="http://schemas.openxmlformats.org/drawingml/2006/main">
              <a:ext uri="{FF2B5EF4-FFF2-40B4-BE49-F238E27FC236}">
                <a16:creationId xmlns:a16="http://schemas.microsoft.com/office/drawing/2014/main" id="{BE752D5E-A6E4-4645-8151-C5DC60534DD7}"/>
              </a:ext>
            </a:extLst>
          </p:cNvPr>
          <p:cNvSpPr>
            <a:spLocks xmlns:a="http://schemas.openxmlformats.org/drawingml/2006/main" noGrp="1"/>
          </p:cNvSpPr>
          <p:nvPr/>
        </p:nvSpPr>
        <p:spPr>
          <a:xfrm xmlns:a="http://schemas.openxmlformats.org/drawingml/2006/main">
            <a:off x="876300" y="331470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0" name="bullet-text-4">
            <a:extLst xmlns:a="http://schemas.openxmlformats.org/drawingml/2006/main">
              <a:ext uri="{FF2B5EF4-FFF2-40B4-BE49-F238E27FC236}">
                <a16:creationId xmlns:a16="http://schemas.microsoft.com/office/drawing/2014/main" id="{5F23F30E-13D5-4E42-B14D-BCDA89B76AB7}"/>
              </a:ext>
            </a:extLst>
          </p:cNvPr>
          <p:cNvSpPr>
            <a:spLocks xmlns:a="http://schemas.openxmlformats.org/drawingml/2006/main" noGrp="1"/>
          </p:cNvSpPr>
          <p:nvPr/>
        </p:nvSpPr>
        <p:spPr>
          <a:xfrm xmlns:a="http://schemas.openxmlformats.org/drawingml/2006/main">
            <a:off x="1143000" y="331470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Then the app checks classroom or same club/year.</a:t>
            </a:r>
          </a:p>
        </p:txBody>
      </p:sp>
      <p:sp>
        <p:nvSpPr>
          <p:cNvPr id="11" name="logic-box">
            <a:extLst xmlns:a="http://schemas.openxmlformats.org/drawingml/2006/main">
              <a:ext uri="{FF2B5EF4-FFF2-40B4-BE49-F238E27FC236}">
                <a16:creationId xmlns:a16="http://schemas.microsoft.com/office/drawing/2014/main" id="{3F68349B-9CE1-45A0-A1F8-541F270680FE}"/>
              </a:ext>
            </a:extLst>
          </p:cNvPr>
          <p:cNvSpPr>
            <a:spLocks xmlns:a="http://schemas.openxmlformats.org/drawingml/2006/main" noGrp="1"/>
          </p:cNvSpPr>
          <p:nvPr/>
        </p:nvSpPr>
        <p:spPr>
          <a:xfrm xmlns:a="http://schemas.openxmlformats.org/drawingml/2006/main">
            <a:off x="9401175" y="2057400"/>
            <a:ext cx="8010525" cy="7524750"/>
          </a:xfrm>
          <a:prstGeom xmlns:a="http://schemas.openxmlformats.org/drawingml/2006/main" prst="roundRect">
            <a:avLst>
              <a:gd name="adj" fmla="val 253"/>
            </a:avLst>
          </a:prstGeom>
          <a:solidFill xmlns:a="http://schemas.openxmlformats.org/drawingml/2006/main">
            <a:srgbClr val="F3F4F6"/>
          </a:solidFill>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A73B0E7A-2823-4D23-8010-6125258E03D4}"/>
              </a:ext>
            </a:extLst>
          </p:cNvPr>
          <p:cNvSpPr>
            <a:spLocks xmlns:a="http://schemas.openxmlformats.org/drawingml/2006/main" noGrp="1"/>
          </p:cNvSpPr>
          <p:nvPr/>
        </p:nvSpPr>
        <p:spPr>
          <a:xfrm xmlns:a="http://schemas.openxmlformats.org/drawingml/2006/main">
            <a:off x="9734550" y="2324100"/>
            <a:ext cx="73723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111827"/>
                </a:solidFill>
              </a:defRPr>
            </a:pPr>
            <a:r>
              <a:rPr sz="2700" b="1">
                <a:solidFill>
                  <a:srgbClr val="111827"/>
                </a:solidFill>
              </a:rPr>
              <a:t>Conflict rules</a:t>
            </a:r>
          </a:p>
        </p:txBody>
      </p:sp>
      <p:sp>
        <p:nvSpPr>
          <p:cNvPr id="13" name="">
            <a:extLst xmlns:a="http://schemas.openxmlformats.org/drawingml/2006/main">
              <a:ext uri="{FF2B5EF4-FFF2-40B4-BE49-F238E27FC236}">
                <a16:creationId xmlns:a16="http://schemas.microsoft.com/office/drawing/2014/main" id="{D08B6AD6-933A-4AED-B858-7F68DDDE8756}"/>
              </a:ext>
            </a:extLst>
          </p:cNvPr>
          <p:cNvSpPr>
            <a:spLocks xmlns:a="http://schemas.openxmlformats.org/drawingml/2006/main" noGrp="1"/>
          </p:cNvSpPr>
          <p:nvPr/>
        </p:nvSpPr>
        <p:spPr>
          <a:xfrm xmlns:a="http://schemas.openxmlformats.org/drawingml/2006/main">
            <a:off x="9734550" y="2876550"/>
            <a:ext cx="737235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a:solidFill>
                  <a:srgbClr val="111827"/>
                </a:solidFill>
              </a:defRPr>
            </a:pPr>
            <a:r>
              <a:rPr sz="2250">
                <a:solidFill>
                  <a:srgbClr val="111827"/>
                </a:solidFill>
              </a:rPr>
              <a:t>1. No classroom double-booking</a:t>
            </a:r>
          </a:p>
          <a:p xmlns:a="http://schemas.openxmlformats.org/drawingml/2006/main">
            <a:pPr>
              <a:defRPr sz="2250">
                <a:solidFill>
                  <a:srgbClr val="111827"/>
                </a:solidFill>
              </a:defRPr>
            </a:pPr>
            <a:r>
              <a:rPr sz="2250">
                <a:solidFill>
                  <a:srgbClr val="111827"/>
                </a:solidFill>
              </a:rPr>
              <a:t>2. No overlapping meetings for the same club</a:t>
            </a:r>
          </a:p>
        </p:txBody>
      </p:sp>
      <p:sp>
        <p:nvSpPr>
          <p:cNvPr id="14" name="">
            <a:extLst xmlns:a="http://schemas.openxmlformats.org/drawingml/2006/main">
              <a:ext uri="{FF2B5EF4-FFF2-40B4-BE49-F238E27FC236}">
                <a16:creationId xmlns:a16="http://schemas.microsoft.com/office/drawing/2014/main" id="{A2891790-E080-4544-A4C3-B3AAB78C719A}"/>
              </a:ext>
            </a:extLst>
          </p:cNvPr>
          <p:cNvSpPr>
            <a:spLocks xmlns:a="http://schemas.openxmlformats.org/drawingml/2006/main" noGrp="1"/>
          </p:cNvSpPr>
          <p:nvPr/>
        </p:nvSpPr>
        <p:spPr>
          <a:xfrm xmlns:a="http://schemas.openxmlformats.org/drawingml/2006/main">
            <a:off x="9734550" y="3657600"/>
            <a:ext cx="2476500" cy="38100"/>
          </a:xfrm>
          <a:prstGeom xmlns:a="http://schemas.openxmlformats.org/drawingml/2006/main" prst="rect">
            <a:avLst/>
          </a:prstGeom>
          <a:solidFill xmlns:a="http://schemas.openxmlformats.org/drawingml/2006/main">
            <a:srgbClr val="B45309"/>
          </a:solidFill>
          <a:ln xmlns:a="http://schemas.openxmlformats.org/drawingml/2006/main" w="0">
            <a:solidFill>
              <a:srgbClr val="B45309"/>
            </a:solidFill>
            <a:prstDash val="solid"/>
          </a:ln>
        </p:spPr>
      </p:sp>
      <p:sp>
        <p:nvSpPr>
          <p:cNvPr id="15" name="">
            <a:extLst xmlns:a="http://schemas.openxmlformats.org/drawingml/2006/main">
              <a:ext uri="{FF2B5EF4-FFF2-40B4-BE49-F238E27FC236}">
                <a16:creationId xmlns:a16="http://schemas.microsoft.com/office/drawing/2014/main" id="{F3A76C19-C65F-4CB2-8A2D-08FAAC0343B2}"/>
              </a:ext>
            </a:extLst>
          </p:cNvPr>
          <p:cNvSpPr>
            <a:spLocks xmlns:a="http://schemas.openxmlformats.org/drawingml/2006/main" noGrp="1"/>
          </p:cNvSpPr>
          <p:nvPr/>
        </p:nvSpPr>
        <p:spPr>
          <a:xfrm xmlns:a="http://schemas.openxmlformats.org/drawingml/2006/main">
            <a:off x="9734550" y="3905250"/>
            <a:ext cx="73723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a:solidFill>
                  <a:srgbClr val="111827"/>
                </a:solidFill>
              </a:defRPr>
            </a:pPr>
            <a:r>
              <a:rPr sz="2025">
                <a:solidFill>
                  <a:srgbClr val="111827"/>
                </a:solidFill>
              </a:rPr>
              <a:t>The app rejects a new meeting when the date matches and the time range overlaps an existing meeting in the same room or for the same club/year.</a:t>
            </a:r>
          </a:p>
        </p:txBody>
      </p:sp>
    </p:spTree>
    <p:extLst>
      <p:ext uri="{BB962C8B-B14F-4D97-AF65-F5344CB8AC3E}">
        <p14:creationId xmlns:p14="http://schemas.microsoft.com/office/powerpoint/2010/main" val="2319590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48F40DC-F387-4530-980F-4E8FFD37A93B}"/>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Live Demo Plan</a:t>
            </a:r>
          </a:p>
        </p:txBody>
      </p:sp>
      <p:sp>
        <p:nvSpPr>
          <p:cNvPr id="2" name="slide-subtitle">
            <a:extLst xmlns:a="http://schemas.openxmlformats.org/drawingml/2006/main">
              <a:ext uri="{FF2B5EF4-FFF2-40B4-BE49-F238E27FC236}">
                <a16:creationId xmlns:a16="http://schemas.microsoft.com/office/drawing/2014/main" id="{07A6C455-92AF-4349-BEFF-EEEA799A6D86}"/>
              </a:ext>
            </a:extLst>
          </p:cNvPr>
          <p:cNvSpPr>
            <a:spLocks xmlns:a="http://schemas.openxmlformats.org/drawingml/2006/main" noGrp="1"/>
          </p:cNvSpPr>
          <p:nvPr/>
        </p:nvSpPr>
        <p:spPr>
          <a:xfrm xmlns:a="http://schemas.openxmlformats.org/drawingml/2006/main">
            <a:off x="876300" y="1390650"/>
            <a:ext cx="9505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A short demo can show the whole project without clicking through every option.</a:t>
            </a:r>
          </a:p>
        </p:txBody>
      </p:sp>
      <p:sp>
        <p:nvSpPr>
          <p:cNvPr id="3" name="dot-1">
            <a:extLst xmlns:a="http://schemas.openxmlformats.org/drawingml/2006/main">
              <a:ext uri="{FF2B5EF4-FFF2-40B4-BE49-F238E27FC236}">
                <a16:creationId xmlns:a16="http://schemas.microsoft.com/office/drawing/2014/main" id="{A0615302-49CA-485B-B267-F4C4BD99A075}"/>
              </a:ext>
            </a:extLst>
          </p:cNvPr>
          <p:cNvSpPr>
            <a:spLocks xmlns:a="http://schemas.openxmlformats.org/drawingml/2006/main" noGrp="1"/>
          </p:cNvSpPr>
          <p:nvPr/>
        </p:nvSpPr>
        <p:spPr>
          <a:xfrm xmlns:a="http://schemas.openxmlformats.org/drawingml/2006/main">
            <a:off x="876300" y="20764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4" name="bullet-text-1">
            <a:extLst xmlns:a="http://schemas.openxmlformats.org/drawingml/2006/main">
              <a:ext uri="{FF2B5EF4-FFF2-40B4-BE49-F238E27FC236}">
                <a16:creationId xmlns:a16="http://schemas.microsoft.com/office/drawing/2014/main" id="{1DB8BC36-9D5B-483D-AC43-04D3774C2608}"/>
              </a:ext>
            </a:extLst>
          </p:cNvPr>
          <p:cNvSpPr>
            <a:spLocks xmlns:a="http://schemas.openxmlformats.org/drawingml/2006/main" noGrp="1"/>
          </p:cNvSpPr>
          <p:nvPr/>
        </p:nvSpPr>
        <p:spPr>
          <a:xfrm xmlns:a="http://schemas.openxmlformats.org/drawingml/2006/main">
            <a:off x="1143000" y="20764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View clubs and advisors for 2025-26.</a:t>
            </a:r>
          </a:p>
        </p:txBody>
      </p:sp>
      <p:sp>
        <p:nvSpPr>
          <p:cNvPr id="5" name="dot-2">
            <a:extLst xmlns:a="http://schemas.openxmlformats.org/drawingml/2006/main">
              <a:ext uri="{FF2B5EF4-FFF2-40B4-BE49-F238E27FC236}">
                <a16:creationId xmlns:a16="http://schemas.microsoft.com/office/drawing/2014/main" id="{A86B3471-C061-4F32-B5DF-02A68DDA7AE6}"/>
              </a:ext>
            </a:extLst>
          </p:cNvPr>
          <p:cNvSpPr>
            <a:spLocks xmlns:a="http://schemas.openxmlformats.org/drawingml/2006/main" noGrp="1"/>
          </p:cNvSpPr>
          <p:nvPr/>
        </p:nvSpPr>
        <p:spPr>
          <a:xfrm xmlns:a="http://schemas.openxmlformats.org/drawingml/2006/main">
            <a:off x="876300" y="24955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6" name="bullet-text-2">
            <a:extLst xmlns:a="http://schemas.openxmlformats.org/drawingml/2006/main">
              <a:ext uri="{FF2B5EF4-FFF2-40B4-BE49-F238E27FC236}">
                <a16:creationId xmlns:a16="http://schemas.microsoft.com/office/drawing/2014/main" id="{05B1ADD9-3D59-4027-8C27-83952C4278A7}"/>
              </a:ext>
            </a:extLst>
          </p:cNvPr>
          <p:cNvSpPr>
            <a:spLocks xmlns:a="http://schemas.openxmlformats.org/drawingml/2006/main" noGrp="1"/>
          </p:cNvSpPr>
          <p:nvPr/>
        </p:nvSpPr>
        <p:spPr>
          <a:xfrm xmlns:a="http://schemas.openxmlformats.org/drawingml/2006/main">
            <a:off x="1143000" y="24955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View students in a club.</a:t>
            </a:r>
          </a:p>
        </p:txBody>
      </p:sp>
      <p:sp>
        <p:nvSpPr>
          <p:cNvPr id="7" name="dot-3">
            <a:extLst xmlns:a="http://schemas.openxmlformats.org/drawingml/2006/main">
              <a:ext uri="{FF2B5EF4-FFF2-40B4-BE49-F238E27FC236}">
                <a16:creationId xmlns:a16="http://schemas.microsoft.com/office/drawing/2014/main" id="{CC41497D-BF93-49A6-B902-8F374A24C3D2}"/>
              </a:ext>
            </a:extLst>
          </p:cNvPr>
          <p:cNvSpPr>
            <a:spLocks xmlns:a="http://schemas.openxmlformats.org/drawingml/2006/main" noGrp="1"/>
          </p:cNvSpPr>
          <p:nvPr/>
        </p:nvSpPr>
        <p:spPr>
          <a:xfrm xmlns:a="http://schemas.openxmlformats.org/drawingml/2006/main">
            <a:off x="876300" y="29146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8" name="bullet-text-3">
            <a:extLst xmlns:a="http://schemas.openxmlformats.org/drawingml/2006/main">
              <a:ext uri="{FF2B5EF4-FFF2-40B4-BE49-F238E27FC236}">
                <a16:creationId xmlns:a16="http://schemas.microsoft.com/office/drawing/2014/main" id="{E21FFD16-59A3-422E-9F79-B3310FCBA57E}"/>
              </a:ext>
            </a:extLst>
          </p:cNvPr>
          <p:cNvSpPr>
            <a:spLocks xmlns:a="http://schemas.openxmlformats.org/drawingml/2006/main" noGrp="1"/>
          </p:cNvSpPr>
          <p:nvPr/>
        </p:nvSpPr>
        <p:spPr>
          <a:xfrm xmlns:a="http://schemas.openxmlformats.org/drawingml/2006/main">
            <a:off x="1143000" y="29146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Show meetings and field trips for one club.</a:t>
            </a:r>
          </a:p>
        </p:txBody>
      </p:sp>
      <p:sp>
        <p:nvSpPr>
          <p:cNvPr id="9" name="dot-4">
            <a:extLst xmlns:a="http://schemas.openxmlformats.org/drawingml/2006/main">
              <a:ext uri="{FF2B5EF4-FFF2-40B4-BE49-F238E27FC236}">
                <a16:creationId xmlns:a16="http://schemas.microsoft.com/office/drawing/2014/main" id="{F50FF5BC-C3C2-4AF3-9374-BF8E8DCAFAE8}"/>
              </a:ext>
            </a:extLst>
          </p:cNvPr>
          <p:cNvSpPr>
            <a:spLocks xmlns:a="http://schemas.openxmlformats.org/drawingml/2006/main" noGrp="1"/>
          </p:cNvSpPr>
          <p:nvPr/>
        </p:nvSpPr>
        <p:spPr>
          <a:xfrm xmlns:a="http://schemas.openxmlformats.org/drawingml/2006/main">
            <a:off x="876300" y="33337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0" name="bullet-text-4">
            <a:extLst xmlns:a="http://schemas.openxmlformats.org/drawingml/2006/main">
              <a:ext uri="{FF2B5EF4-FFF2-40B4-BE49-F238E27FC236}">
                <a16:creationId xmlns:a16="http://schemas.microsoft.com/office/drawing/2014/main" id="{D3C708B6-6E3C-4BB8-9FB7-D9A9EFC3EE1D}"/>
              </a:ext>
            </a:extLst>
          </p:cNvPr>
          <p:cNvSpPr>
            <a:spLocks xmlns:a="http://schemas.openxmlformats.org/drawingml/2006/main" noGrp="1"/>
          </p:cNvSpPr>
          <p:nvPr/>
        </p:nvSpPr>
        <p:spPr>
          <a:xfrm xmlns:a="http://schemas.openxmlformats.org/drawingml/2006/main">
            <a:off x="1143000" y="33337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Add an expense and show remaining budget.</a:t>
            </a:r>
          </a:p>
        </p:txBody>
      </p:sp>
      <p:sp>
        <p:nvSpPr>
          <p:cNvPr id="11" name="dot-5">
            <a:extLst xmlns:a="http://schemas.openxmlformats.org/drawingml/2006/main">
              <a:ext uri="{FF2B5EF4-FFF2-40B4-BE49-F238E27FC236}">
                <a16:creationId xmlns:a16="http://schemas.microsoft.com/office/drawing/2014/main" id="{AC0BF150-8EE4-4667-AC3D-9590120E9B6E}"/>
              </a:ext>
            </a:extLst>
          </p:cNvPr>
          <p:cNvSpPr>
            <a:spLocks xmlns:a="http://schemas.openxmlformats.org/drawingml/2006/main" noGrp="1"/>
          </p:cNvSpPr>
          <p:nvPr/>
        </p:nvSpPr>
        <p:spPr>
          <a:xfrm xmlns:a="http://schemas.openxmlformats.org/drawingml/2006/main">
            <a:off x="876300" y="37528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2" name="bullet-text-5">
            <a:extLst xmlns:a="http://schemas.openxmlformats.org/drawingml/2006/main">
              <a:ext uri="{FF2B5EF4-FFF2-40B4-BE49-F238E27FC236}">
                <a16:creationId xmlns:a16="http://schemas.microsoft.com/office/drawing/2014/main" id="{56C5DE2B-72A0-43E7-9017-DAFA07C4B177}"/>
              </a:ext>
            </a:extLst>
          </p:cNvPr>
          <p:cNvSpPr>
            <a:spLocks xmlns:a="http://schemas.openxmlformats.org/drawingml/2006/main" noGrp="1"/>
          </p:cNvSpPr>
          <p:nvPr/>
        </p:nvSpPr>
        <p:spPr>
          <a:xfrm xmlns:a="http://schemas.openxmlformats.org/drawingml/2006/main">
            <a:off x="1143000" y="37528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Try adding a conflicting meeting and show that it is rejected.</a:t>
            </a:r>
          </a:p>
        </p:txBody>
      </p:sp>
      <p:sp>
        <p:nvSpPr>
          <p:cNvPr id="13" name="">
            <a:extLst xmlns:a="http://schemas.openxmlformats.org/drawingml/2006/main">
              <a:ext uri="{FF2B5EF4-FFF2-40B4-BE49-F238E27FC236}">
                <a16:creationId xmlns:a16="http://schemas.microsoft.com/office/drawing/2014/main" id="{E07BB654-9AF3-45BC-82DA-5D553B1D7823}"/>
              </a:ext>
            </a:extLst>
          </p:cNvPr>
          <p:cNvSpPr>
            <a:spLocks xmlns:a="http://schemas.openxmlformats.org/drawingml/2006/main" noGrp="1"/>
          </p:cNvSpPr>
          <p:nvPr/>
        </p:nvSpPr>
        <p:spPr>
          <a:xfrm xmlns:a="http://schemas.openxmlformats.org/drawingml/2006/main">
            <a:off x="9410700" y="2076450"/>
            <a:ext cx="80200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1E3A8A"/>
                </a:solidFill>
              </a:defRPr>
            </a:pPr>
            <a:r>
              <a:rPr sz="2700" b="1">
                <a:solidFill>
                  <a:srgbClr val="1E3A8A"/>
                </a:solidFill>
              </a:rPr>
              <a:t>Good sample inputs</a:t>
            </a:r>
          </a:p>
        </p:txBody>
      </p:sp>
      <p:sp>
        <p:nvSpPr>
          <p:cNvPr id="14" name="">
            <a:extLst xmlns:a="http://schemas.openxmlformats.org/drawingml/2006/main">
              <a:ext uri="{FF2B5EF4-FFF2-40B4-BE49-F238E27FC236}">
                <a16:creationId xmlns:a16="http://schemas.microsoft.com/office/drawing/2014/main" id="{44367173-3A09-4CEB-9F02-DF42469D575D}"/>
              </a:ext>
            </a:extLst>
          </p:cNvPr>
          <p:cNvSpPr>
            <a:spLocks xmlns:a="http://schemas.openxmlformats.org/drawingml/2006/main" noGrp="1"/>
          </p:cNvSpPr>
          <p:nvPr/>
        </p:nvSpPr>
        <p:spPr>
          <a:xfrm xmlns:a="http://schemas.openxmlformats.org/drawingml/2006/main">
            <a:off x="9410700" y="2590800"/>
            <a:ext cx="8020050" cy="1333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111827"/>
                </a:solidFill>
              </a:defRPr>
            </a:pPr>
            <a:r>
              <a:rPr sz="2100">
                <a:solidFill>
                  <a:srgbClr val="111827"/>
                </a:solidFill>
              </a:rPr>
              <a:t>Year: 2025-26</a:t>
            </a:r>
          </a:p>
          <a:p xmlns:a="http://schemas.openxmlformats.org/drawingml/2006/main">
            <a:pPr>
              <a:defRPr sz="2100">
                <a:solidFill>
                  <a:srgbClr val="111827"/>
                </a:solidFill>
              </a:defRPr>
            </a:pPr>
            <a:r>
              <a:rPr sz="2100">
                <a:solidFill>
                  <a:srgbClr val="111827"/>
                </a:solidFill>
              </a:rPr>
              <a:t>Club: Band</a:t>
            </a:r>
          </a:p>
          <a:p xmlns:a="http://schemas.openxmlformats.org/drawingml/2006/main">
            <a:pPr>
              <a:defRPr sz="2100">
                <a:solidFill>
                  <a:srgbClr val="111827"/>
                </a:solidFill>
              </a:defRPr>
            </a:pPr>
            <a:r>
              <a:rPr sz="2100">
                <a:solidFill>
                  <a:srgbClr val="111827"/>
                </a:solidFill>
              </a:rPr>
              <a:t>Student ID: 101</a:t>
            </a:r>
          </a:p>
          <a:p xmlns:a="http://schemas.openxmlformats.org/drawingml/2006/main">
            <a:pPr>
              <a:defRPr sz="2100">
                <a:solidFill>
                  <a:srgbClr val="111827"/>
                </a:solidFill>
              </a:defRPr>
            </a:pPr>
            <a:r>
              <a:rPr sz="2100">
                <a:solidFill>
                  <a:srgbClr val="111827"/>
                </a:solidFill>
              </a:rPr>
              <a:t>Conflict test: Band, 2025-26, 2025-09-08, 15:30:00-16:00:00, Room 101</a:t>
            </a:r>
          </a:p>
        </p:txBody>
      </p:sp>
    </p:spTree>
    <p:extLst>
      <p:ext uri="{BB962C8B-B14F-4D97-AF65-F5344CB8AC3E}">
        <p14:creationId xmlns:p14="http://schemas.microsoft.com/office/powerpoint/2010/main" val="15503038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76DFF5C-E53F-4504-BD1C-FA75CC788573}"/>
              </a:ext>
            </a:extLst>
          </p:cNvPr>
          <p:cNvSpPr>
            <a:spLocks xmlns:a="http://schemas.openxmlformats.org/drawingml/2006/main" noGrp="1"/>
          </p:cNvSpPr>
          <p:nvPr/>
        </p:nvSpPr>
        <p:spPr>
          <a:xfrm xmlns:a="http://schemas.openxmlformats.org/drawingml/2006/main">
            <a:off x="876300" y="7048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11827"/>
                </a:solidFill>
              </a:defRPr>
            </a:pPr>
            <a:r>
              <a:rPr sz="4350" b="1">
                <a:solidFill>
                  <a:srgbClr val="111827"/>
                </a:solidFill>
              </a:rPr>
              <a:t>Challenges And Lessons Learned</a:t>
            </a:r>
          </a:p>
        </p:txBody>
      </p:sp>
      <p:sp>
        <p:nvSpPr>
          <p:cNvPr id="2" name="slide-subtitle">
            <a:extLst xmlns:a="http://schemas.openxmlformats.org/drawingml/2006/main">
              <a:ext uri="{FF2B5EF4-FFF2-40B4-BE49-F238E27FC236}">
                <a16:creationId xmlns:a16="http://schemas.microsoft.com/office/drawing/2014/main" id="{2574F9F3-13BC-41AF-8417-8A54D3A80941}"/>
              </a:ext>
            </a:extLst>
          </p:cNvPr>
          <p:cNvSpPr>
            <a:spLocks xmlns:a="http://schemas.openxmlformats.org/drawingml/2006/main" noGrp="1"/>
          </p:cNvSpPr>
          <p:nvPr/>
        </p:nvSpPr>
        <p:spPr>
          <a:xfrm xmlns:a="http://schemas.openxmlformats.org/drawingml/2006/main">
            <a:off x="876300" y="1390650"/>
            <a:ext cx="104013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B5563"/>
                </a:solidFill>
              </a:defRPr>
            </a:pPr>
            <a:r>
              <a:rPr sz="2100">
                <a:solidFill>
                  <a:srgbClr val="4B5563"/>
                </a:solidFill>
              </a:rPr>
              <a:t>The main challenge was connecting a normalized design to usable application features.</a:t>
            </a:r>
          </a:p>
        </p:txBody>
      </p:sp>
      <p:sp>
        <p:nvSpPr>
          <p:cNvPr id="3" name="">
            <a:extLst xmlns:a="http://schemas.openxmlformats.org/drawingml/2006/main">
              <a:ext uri="{FF2B5EF4-FFF2-40B4-BE49-F238E27FC236}">
                <a16:creationId xmlns:a16="http://schemas.microsoft.com/office/drawing/2014/main" id="{AD689FE9-617D-4F9D-9BDA-02A332160BF5}"/>
              </a:ext>
            </a:extLst>
          </p:cNvPr>
          <p:cNvSpPr>
            <a:spLocks xmlns:a="http://schemas.openxmlformats.org/drawingml/2006/main" noGrp="1"/>
          </p:cNvSpPr>
          <p:nvPr/>
        </p:nvSpPr>
        <p:spPr>
          <a:xfrm xmlns:a="http://schemas.openxmlformats.org/drawingml/2006/main">
            <a:off x="876300" y="2381250"/>
            <a:ext cx="80200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925" b="1">
                <a:solidFill>
                  <a:srgbClr val="B45309"/>
                </a:solidFill>
              </a:defRPr>
            </a:pPr>
            <a:r>
              <a:rPr sz="2925" b="1">
                <a:solidFill>
                  <a:srgbClr val="B45309"/>
                </a:solidFill>
              </a:rPr>
              <a:t>Challenges</a:t>
            </a:r>
          </a:p>
        </p:txBody>
      </p:sp>
      <p:sp>
        <p:nvSpPr>
          <p:cNvPr id="4" name="dot-1">
            <a:extLst xmlns:a="http://schemas.openxmlformats.org/drawingml/2006/main">
              <a:ext uri="{FF2B5EF4-FFF2-40B4-BE49-F238E27FC236}">
                <a16:creationId xmlns:a16="http://schemas.microsoft.com/office/drawing/2014/main" id="{12D2206B-BFEF-45BC-A349-764ACCC13A03}"/>
              </a:ext>
            </a:extLst>
          </p:cNvPr>
          <p:cNvSpPr>
            <a:spLocks xmlns:a="http://schemas.openxmlformats.org/drawingml/2006/main" noGrp="1"/>
          </p:cNvSpPr>
          <p:nvPr/>
        </p:nvSpPr>
        <p:spPr>
          <a:xfrm xmlns:a="http://schemas.openxmlformats.org/drawingml/2006/main">
            <a:off x="876300" y="2952750"/>
            <a:ext cx="114300" cy="114300"/>
          </a:xfrm>
          <a:prstGeom xmlns:a="http://schemas.openxmlformats.org/drawingml/2006/main" prst="roundRect">
            <a:avLst>
              <a:gd name="adj" fmla="val 50000"/>
            </a:avLst>
          </a:prstGeom>
          <a:solidFill xmlns:a="http://schemas.openxmlformats.org/drawingml/2006/main">
            <a:srgbClr val="B45309"/>
          </a:solidFill>
          <a:ln xmlns:a="http://schemas.openxmlformats.org/drawingml/2006/main" w="0">
            <a:solidFill>
              <a:srgbClr val="B45309"/>
            </a:solidFill>
            <a:prstDash val="solid"/>
          </a:ln>
        </p:spPr>
      </p:sp>
      <p:sp>
        <p:nvSpPr>
          <p:cNvPr id="5" name="bullet-text-1">
            <a:extLst xmlns:a="http://schemas.openxmlformats.org/drawingml/2006/main">
              <a:ext uri="{FF2B5EF4-FFF2-40B4-BE49-F238E27FC236}">
                <a16:creationId xmlns:a16="http://schemas.microsoft.com/office/drawing/2014/main" id="{1F3D2A69-6C47-4439-8C29-C2F3606F2A69}"/>
              </a:ext>
            </a:extLst>
          </p:cNvPr>
          <p:cNvSpPr>
            <a:spLocks xmlns:a="http://schemas.openxmlformats.org/drawingml/2006/main" noGrp="1"/>
          </p:cNvSpPr>
          <p:nvPr/>
        </p:nvSpPr>
        <p:spPr>
          <a:xfrm xmlns:a="http://schemas.openxmlformats.org/drawingml/2006/main">
            <a:off x="1143000" y="29527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Keeping club data accurate across different years.</a:t>
            </a:r>
          </a:p>
        </p:txBody>
      </p:sp>
      <p:sp>
        <p:nvSpPr>
          <p:cNvPr id="6" name="dot-2">
            <a:extLst xmlns:a="http://schemas.openxmlformats.org/drawingml/2006/main">
              <a:ext uri="{FF2B5EF4-FFF2-40B4-BE49-F238E27FC236}">
                <a16:creationId xmlns:a16="http://schemas.microsoft.com/office/drawing/2014/main" id="{0C83320E-0F77-4A60-AE71-4D2138266837}"/>
              </a:ext>
            </a:extLst>
          </p:cNvPr>
          <p:cNvSpPr>
            <a:spLocks xmlns:a="http://schemas.openxmlformats.org/drawingml/2006/main" noGrp="1"/>
          </p:cNvSpPr>
          <p:nvPr/>
        </p:nvSpPr>
        <p:spPr>
          <a:xfrm xmlns:a="http://schemas.openxmlformats.org/drawingml/2006/main">
            <a:off x="876300" y="3371850"/>
            <a:ext cx="114300" cy="114300"/>
          </a:xfrm>
          <a:prstGeom xmlns:a="http://schemas.openxmlformats.org/drawingml/2006/main" prst="roundRect">
            <a:avLst>
              <a:gd name="adj" fmla="val 50000"/>
            </a:avLst>
          </a:prstGeom>
          <a:solidFill xmlns:a="http://schemas.openxmlformats.org/drawingml/2006/main">
            <a:srgbClr val="B45309"/>
          </a:solidFill>
          <a:ln xmlns:a="http://schemas.openxmlformats.org/drawingml/2006/main" w="0">
            <a:solidFill>
              <a:srgbClr val="B45309"/>
            </a:solidFill>
            <a:prstDash val="solid"/>
          </a:ln>
        </p:spPr>
      </p:sp>
      <p:sp>
        <p:nvSpPr>
          <p:cNvPr id="7" name="bullet-text-2">
            <a:extLst xmlns:a="http://schemas.openxmlformats.org/drawingml/2006/main">
              <a:ext uri="{FF2B5EF4-FFF2-40B4-BE49-F238E27FC236}">
                <a16:creationId xmlns:a16="http://schemas.microsoft.com/office/drawing/2014/main" id="{D8CA7526-7B29-486B-A0DF-55D2759E40DC}"/>
              </a:ext>
            </a:extLst>
          </p:cNvPr>
          <p:cNvSpPr>
            <a:spLocks xmlns:a="http://schemas.openxmlformats.org/drawingml/2006/main" noGrp="1"/>
          </p:cNvSpPr>
          <p:nvPr/>
        </p:nvSpPr>
        <p:spPr>
          <a:xfrm xmlns:a="http://schemas.openxmlformats.org/drawingml/2006/main">
            <a:off x="1143000" y="33718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Writing joins across several related tables.</a:t>
            </a:r>
          </a:p>
        </p:txBody>
      </p:sp>
      <p:sp>
        <p:nvSpPr>
          <p:cNvPr id="8" name="dot-3">
            <a:extLst xmlns:a="http://schemas.openxmlformats.org/drawingml/2006/main">
              <a:ext uri="{FF2B5EF4-FFF2-40B4-BE49-F238E27FC236}">
                <a16:creationId xmlns:a16="http://schemas.microsoft.com/office/drawing/2014/main" id="{DF2494D4-6401-4361-84ED-6D572572015A}"/>
              </a:ext>
            </a:extLst>
          </p:cNvPr>
          <p:cNvSpPr>
            <a:spLocks xmlns:a="http://schemas.openxmlformats.org/drawingml/2006/main" noGrp="1"/>
          </p:cNvSpPr>
          <p:nvPr/>
        </p:nvSpPr>
        <p:spPr>
          <a:xfrm xmlns:a="http://schemas.openxmlformats.org/drawingml/2006/main">
            <a:off x="876300" y="3790950"/>
            <a:ext cx="114300" cy="114300"/>
          </a:xfrm>
          <a:prstGeom xmlns:a="http://schemas.openxmlformats.org/drawingml/2006/main" prst="roundRect">
            <a:avLst>
              <a:gd name="adj" fmla="val 50000"/>
            </a:avLst>
          </a:prstGeom>
          <a:solidFill xmlns:a="http://schemas.openxmlformats.org/drawingml/2006/main">
            <a:srgbClr val="B45309"/>
          </a:solidFill>
          <a:ln xmlns:a="http://schemas.openxmlformats.org/drawingml/2006/main" w="0">
            <a:solidFill>
              <a:srgbClr val="B45309"/>
            </a:solidFill>
            <a:prstDash val="solid"/>
          </a:ln>
        </p:spPr>
      </p:sp>
      <p:sp>
        <p:nvSpPr>
          <p:cNvPr id="9" name="bullet-text-3">
            <a:extLst xmlns:a="http://schemas.openxmlformats.org/drawingml/2006/main">
              <a:ext uri="{FF2B5EF4-FFF2-40B4-BE49-F238E27FC236}">
                <a16:creationId xmlns:a16="http://schemas.microsoft.com/office/drawing/2014/main" id="{CBF783B3-AD2A-46B7-B2F0-888995174EB6}"/>
              </a:ext>
            </a:extLst>
          </p:cNvPr>
          <p:cNvSpPr>
            <a:spLocks xmlns:a="http://schemas.openxmlformats.org/drawingml/2006/main" noGrp="1"/>
          </p:cNvSpPr>
          <p:nvPr/>
        </p:nvSpPr>
        <p:spPr>
          <a:xfrm xmlns:a="http://schemas.openxmlformats.org/drawingml/2006/main">
            <a:off x="1143000" y="37909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Checking time conflicts before inserting a meeting.</a:t>
            </a:r>
          </a:p>
        </p:txBody>
      </p:sp>
      <p:sp>
        <p:nvSpPr>
          <p:cNvPr id="10" name="">
            <a:extLst xmlns:a="http://schemas.openxmlformats.org/drawingml/2006/main">
              <a:ext uri="{FF2B5EF4-FFF2-40B4-BE49-F238E27FC236}">
                <a16:creationId xmlns:a16="http://schemas.microsoft.com/office/drawing/2014/main" id="{9960382D-A403-4E84-A99F-A621E919EE52}"/>
              </a:ext>
            </a:extLst>
          </p:cNvPr>
          <p:cNvSpPr>
            <a:spLocks xmlns:a="http://schemas.openxmlformats.org/drawingml/2006/main" noGrp="1"/>
          </p:cNvSpPr>
          <p:nvPr/>
        </p:nvSpPr>
        <p:spPr>
          <a:xfrm xmlns:a="http://schemas.openxmlformats.org/drawingml/2006/main">
            <a:off x="9410700" y="2381250"/>
            <a:ext cx="80200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925" b="1">
                <a:solidFill>
                  <a:srgbClr val="1E3A8A"/>
                </a:solidFill>
              </a:defRPr>
            </a:pPr>
            <a:r>
              <a:rPr sz="2925" b="1">
                <a:solidFill>
                  <a:srgbClr val="1E3A8A"/>
                </a:solidFill>
              </a:rPr>
              <a:t>Lessons</a:t>
            </a:r>
          </a:p>
        </p:txBody>
      </p:sp>
      <p:sp>
        <p:nvSpPr>
          <p:cNvPr id="11" name="dot-1">
            <a:extLst xmlns:a="http://schemas.openxmlformats.org/drawingml/2006/main">
              <a:ext uri="{FF2B5EF4-FFF2-40B4-BE49-F238E27FC236}">
                <a16:creationId xmlns:a16="http://schemas.microsoft.com/office/drawing/2014/main" id="{D0FEA8CA-1E39-4CA0-A65E-82826DA5B28D}"/>
              </a:ext>
            </a:extLst>
          </p:cNvPr>
          <p:cNvSpPr>
            <a:spLocks xmlns:a="http://schemas.openxmlformats.org/drawingml/2006/main" noGrp="1"/>
          </p:cNvSpPr>
          <p:nvPr/>
        </p:nvSpPr>
        <p:spPr>
          <a:xfrm xmlns:a="http://schemas.openxmlformats.org/drawingml/2006/main">
            <a:off x="9410700" y="29527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2" name="bullet-text-1">
            <a:extLst xmlns:a="http://schemas.openxmlformats.org/drawingml/2006/main">
              <a:ext uri="{FF2B5EF4-FFF2-40B4-BE49-F238E27FC236}">
                <a16:creationId xmlns:a16="http://schemas.microsoft.com/office/drawing/2014/main" id="{D92B2B3B-2ADF-4FFF-AB1C-B1FA00FD38BF}"/>
              </a:ext>
            </a:extLst>
          </p:cNvPr>
          <p:cNvSpPr>
            <a:spLocks xmlns:a="http://schemas.openxmlformats.org/drawingml/2006/main" noGrp="1"/>
          </p:cNvSpPr>
          <p:nvPr/>
        </p:nvSpPr>
        <p:spPr>
          <a:xfrm xmlns:a="http://schemas.openxmlformats.org/drawingml/2006/main">
            <a:off x="9677400" y="29527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Good keys make the application easier to write.</a:t>
            </a:r>
          </a:p>
        </p:txBody>
      </p:sp>
      <p:sp>
        <p:nvSpPr>
          <p:cNvPr id="13" name="dot-2">
            <a:extLst xmlns:a="http://schemas.openxmlformats.org/drawingml/2006/main">
              <a:ext uri="{FF2B5EF4-FFF2-40B4-BE49-F238E27FC236}">
                <a16:creationId xmlns:a16="http://schemas.microsoft.com/office/drawing/2014/main" id="{38DADAF6-2559-4C11-A00D-59A4BD2598FB}"/>
              </a:ext>
            </a:extLst>
          </p:cNvPr>
          <p:cNvSpPr>
            <a:spLocks xmlns:a="http://schemas.openxmlformats.org/drawingml/2006/main" noGrp="1"/>
          </p:cNvSpPr>
          <p:nvPr/>
        </p:nvSpPr>
        <p:spPr>
          <a:xfrm xmlns:a="http://schemas.openxmlformats.org/drawingml/2006/main">
            <a:off x="9410700" y="33718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4" name="bullet-text-2">
            <a:extLst xmlns:a="http://schemas.openxmlformats.org/drawingml/2006/main">
              <a:ext uri="{FF2B5EF4-FFF2-40B4-BE49-F238E27FC236}">
                <a16:creationId xmlns:a16="http://schemas.microsoft.com/office/drawing/2014/main" id="{7E77AE30-B1BF-41EF-88CE-21B0EDCD9444}"/>
              </a:ext>
            </a:extLst>
          </p:cNvPr>
          <p:cNvSpPr>
            <a:spLocks xmlns:a="http://schemas.openxmlformats.org/drawingml/2006/main" noGrp="1"/>
          </p:cNvSpPr>
          <p:nvPr/>
        </p:nvSpPr>
        <p:spPr>
          <a:xfrm xmlns:a="http://schemas.openxmlformats.org/drawingml/2006/main">
            <a:off x="9677400" y="33718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Foreign keys protect the database from invalid records.</a:t>
            </a:r>
          </a:p>
        </p:txBody>
      </p:sp>
      <p:sp>
        <p:nvSpPr>
          <p:cNvPr id="15" name="dot-3">
            <a:extLst xmlns:a="http://schemas.openxmlformats.org/drawingml/2006/main">
              <a:ext uri="{FF2B5EF4-FFF2-40B4-BE49-F238E27FC236}">
                <a16:creationId xmlns:a16="http://schemas.microsoft.com/office/drawing/2014/main" id="{0A412F3E-6121-4D28-A30F-8BC20804C988}"/>
              </a:ext>
            </a:extLst>
          </p:cNvPr>
          <p:cNvSpPr>
            <a:spLocks xmlns:a="http://schemas.openxmlformats.org/drawingml/2006/main" noGrp="1"/>
          </p:cNvSpPr>
          <p:nvPr/>
        </p:nvSpPr>
        <p:spPr>
          <a:xfrm xmlns:a="http://schemas.openxmlformats.org/drawingml/2006/main">
            <a:off x="9410700" y="3790950"/>
            <a:ext cx="114300" cy="114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6" name="bullet-text-3">
            <a:extLst xmlns:a="http://schemas.openxmlformats.org/drawingml/2006/main">
              <a:ext uri="{FF2B5EF4-FFF2-40B4-BE49-F238E27FC236}">
                <a16:creationId xmlns:a16="http://schemas.microsoft.com/office/drawing/2014/main" id="{2FA4CF91-17A2-4EB9-A463-0EDE182AEE1B}"/>
              </a:ext>
            </a:extLst>
          </p:cNvPr>
          <p:cNvSpPr>
            <a:spLocks xmlns:a="http://schemas.openxmlformats.org/drawingml/2006/main" noGrp="1"/>
          </p:cNvSpPr>
          <p:nvPr/>
        </p:nvSpPr>
        <p:spPr>
          <a:xfrm xmlns:a="http://schemas.openxmlformats.org/drawingml/2006/main">
            <a:off x="9677400" y="3790950"/>
            <a:ext cx="7753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11827"/>
                </a:solidFill>
              </a:defRPr>
            </a:pPr>
            <a:r>
              <a:rPr sz="1950">
                <a:solidFill>
                  <a:srgbClr val="111827"/>
                </a:solidFill>
              </a:rPr>
              <a:t>Simple menus can still cover real database workflows.</a:t>
            </a:r>
          </a:p>
        </p:txBody>
      </p:sp>
    </p:spTree>
    <p:extLst>
      <p:ext uri="{BB962C8B-B14F-4D97-AF65-F5344CB8AC3E}">
        <p14:creationId xmlns:p14="http://schemas.microsoft.com/office/powerpoint/2010/main" val="1730370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2026-04-27T00:14:19.6360000Z</dcterms:created>
  <dcterms:modified xsi:type="dcterms:W3CDTF">2026-04-27T00:14:19.6360000Z</dcterms:modified>
</coreProperties>
</file>